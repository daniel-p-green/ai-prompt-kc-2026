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pic>
        <p:nvPicPr>
          <p:cNvPr id="3" name="Image 0" descr="preencoded.png">    </p:cNvPr>
          <p:cNvPicPr>
            <a:picLocks noChangeAspect="1"/>
          </p:cNvPicPr>
          <p:nvPr/>
        </p:nvPicPr>
        <p:blipFill>
          <a:blip r:embed="rId1"/>
          <a:stretch>
            <a:fillRect/>
          </a:stretch>
        </p:blipFill>
        <p:spPr>
          <a:xfrm>
            <a:off x="640080" y="1097280"/>
            <a:ext cx="640080" cy="640080"/>
          </a:xfrm>
          <a:prstGeom prst="rect">
            <a:avLst/>
          </a:prstGeom>
        </p:spPr>
      </p:pic>
      <p:sp>
        <p:nvSpPr>
          <p:cNvPr id="4" name="Text 1"/>
          <p:cNvSpPr/>
          <p:nvPr/>
        </p:nvSpPr>
        <p:spPr>
          <a:xfrm>
            <a:off x="1463040" y="914400"/>
            <a:ext cx="6400800" cy="1005840"/>
          </a:xfrm>
          <a:prstGeom prst="rect">
            <a:avLst/>
          </a:prstGeom>
          <a:noFill/>
          <a:ln/>
        </p:spPr>
        <p:txBody>
          <a:bodyPr wrap="square" lIns="0" tIns="0" rIns="0" bIns="0" rtlCol="0" anchor="ctr"/>
          <a:lstStyle/>
          <a:p>
            <a:pPr indent="0" marL="0">
              <a:buNone/>
            </a:pPr>
            <a:r>
              <a:rPr lang="en-US" sz="4800" b="1" dirty="0">
                <a:solidFill>
                  <a:srgbClr val="FFFFFF"/>
                </a:solidFill>
                <a:latin typeface="Trebuchet MS" pitchFamily="34" charset="0"/>
                <a:ea typeface="Trebuchet MS" pitchFamily="34" charset="-122"/>
                <a:cs typeface="Trebuchet MS" pitchFamily="34" charset="-120"/>
              </a:rPr>
              <a:t>StreetCart KC</a:t>
            </a:r>
            <a:endParaRPr lang="en-US" sz="4800" dirty="0"/>
          </a:p>
        </p:txBody>
      </p:sp>
      <p:sp>
        <p:nvSpPr>
          <p:cNvPr id="5" name="Text 2"/>
          <p:cNvSpPr/>
          <p:nvPr/>
        </p:nvSpPr>
        <p:spPr>
          <a:xfrm>
            <a:off x="1463040" y="1920240"/>
            <a:ext cx="6858000" cy="914400"/>
          </a:xfrm>
          <a:prstGeom prst="rect">
            <a:avLst/>
          </a:prstGeom>
          <a:noFill/>
          <a:ln/>
        </p:spPr>
        <p:txBody>
          <a:bodyPr wrap="square" lIns="0" tIns="0" rIns="0" bIns="0" rtlCol="0" anchor="ctr"/>
          <a:lstStyle/>
          <a:p>
            <a:pPr indent="0" marL="0">
              <a:lnSpc>
                <a:spcPct val="140000"/>
              </a:lnSpc>
              <a:buNone/>
            </a:pPr>
            <a:r>
              <a:rPr lang="en-US" sz="1800" dirty="0">
                <a:solidFill>
                  <a:srgbClr val="94A3B8"/>
                </a:solidFill>
                <a:latin typeface="Calibri" pitchFamily="34" charset="0"/>
                <a:ea typeface="Calibri" pitchFamily="34" charset="-122"/>
                <a:cs typeface="Calibri" pitchFamily="34" charset="-120"/>
              </a:rPr>
              <a:t>Turning the KC Streetcar into a rolling food spine</a:t>
            </a:r>
            <a:endParaRPr lang="en-US" sz="1800" dirty="0"/>
          </a:p>
          <a:p>
            <a:pPr indent="0" marL="0">
              <a:lnSpc>
                <a:spcPct val="140000"/>
              </a:lnSpc>
              <a:buNone/>
            </a:pPr>
            <a:r>
              <a:rPr lang="en-US" sz="1800" dirty="0">
                <a:solidFill>
                  <a:srgbClr val="94A3B8"/>
                </a:solidFill>
                <a:latin typeface="Calibri" pitchFamily="34" charset="0"/>
                <a:ea typeface="Calibri" pitchFamily="34" charset="-122"/>
                <a:cs typeface="Calibri" pitchFamily="34" charset="-120"/>
              </a:rPr>
              <a:t>with a March Madness-style volunteer tournament</a:t>
            </a:r>
            <a:endParaRPr lang="en-US" sz="1800" dirty="0"/>
          </a:p>
        </p:txBody>
      </p:sp>
      <p:sp>
        <p:nvSpPr>
          <p:cNvPr id="6" name="Shape 3"/>
          <p:cNvSpPr/>
          <p:nvPr/>
        </p:nvSpPr>
        <p:spPr>
          <a:xfrm>
            <a:off x="1463040" y="3017520"/>
            <a:ext cx="2286000" cy="0"/>
          </a:xfrm>
          <a:prstGeom prst="line">
            <a:avLst/>
          </a:prstGeom>
          <a:noFill/>
          <a:ln w="25400">
            <a:solidFill>
              <a:srgbClr val="0D9488"/>
            </a:solidFill>
            <a:prstDash val="solid"/>
          </a:ln>
        </p:spPr>
      </p:sp>
      <p:sp>
        <p:nvSpPr>
          <p:cNvPr id="7" name="Text 4"/>
          <p:cNvSpPr/>
          <p:nvPr/>
        </p:nvSpPr>
        <p:spPr>
          <a:xfrm>
            <a:off x="1463040" y="3291840"/>
            <a:ext cx="6400800" cy="45720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Oracle Track  |  Team Codex KC  |  AI Prompt Championship 2026</a:t>
            </a:r>
            <a:endParaRPr lang="en-US" sz="1300" dirty="0"/>
          </a:p>
        </p:txBody>
      </p:sp>
      <p:sp>
        <p:nvSpPr>
          <p:cNvPr id="8" name="Text 5"/>
          <p:cNvSpPr/>
          <p:nvPr/>
        </p:nvSpPr>
        <p:spPr>
          <a:xfrm>
            <a:off x="1463040" y="3657600"/>
            <a:ext cx="6400800" cy="457200"/>
          </a:xfrm>
          <a:prstGeom prst="rect">
            <a:avLst/>
          </a:prstGeom>
          <a:noFill/>
          <a:ln/>
        </p:spPr>
        <p:txBody>
          <a:bodyPr wrap="square" lIns="0" tIns="0" rIns="0" bIns="0" rtlCol="0" anchor="ctr"/>
          <a:lstStyle/>
          <a:p>
            <a:pPr indent="0" marL="0">
              <a:buNone/>
            </a:pPr>
            <a:r>
              <a:rPr lang="en-US" sz="1300" dirty="0">
                <a:solidFill>
                  <a:srgbClr val="0D9488"/>
                </a:solidFill>
                <a:latin typeface="Calibri" pitchFamily="34" charset="0"/>
                <a:ea typeface="Calibri" pitchFamily="34" charset="-122"/>
                <a:cs typeface="Calibri" pitchFamily="34" charset="-120"/>
              </a:rPr>
              <a:t>60-Day Pilot Plan  |  $500K City Contract  |  Data-Driven ROI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pic>
        <p:nvPicPr>
          <p:cNvPr id="3" name="Image 0" descr="preencoded.png">    </p:cNvPr>
          <p:cNvPicPr>
            <a:picLocks noChangeAspect="1"/>
          </p:cNvPicPr>
          <p:nvPr/>
        </p:nvPicPr>
        <p:blipFill>
          <a:blip r:embed="rId1"/>
          <a:stretch>
            <a:fillRect/>
          </a:stretch>
        </p:blipFill>
        <p:spPr>
          <a:xfrm>
            <a:off x="548640" y="320040"/>
            <a:ext cx="320040" cy="320040"/>
          </a:xfrm>
          <a:prstGeom prst="rect">
            <a:avLst/>
          </a:prstGeom>
        </p:spPr>
      </p:pic>
      <p:sp>
        <p:nvSpPr>
          <p:cNvPr id="4" name="Text 1"/>
          <p:cNvSpPr/>
          <p:nvPr/>
        </p:nvSpPr>
        <p:spPr>
          <a:xfrm>
            <a:off x="960120" y="228600"/>
            <a:ext cx="7315200" cy="548640"/>
          </a:xfrm>
          <a:prstGeom prst="rect">
            <a:avLst/>
          </a:prstGeom>
          <a:noFill/>
          <a:ln/>
        </p:spPr>
        <p:txBody>
          <a:bodyPr wrap="square" lIns="0" tIns="0" rIns="0" bIns="0" rtlCol="0" anchor="ctr"/>
          <a:lstStyle/>
          <a:p>
            <a:pPr indent="0" marL="0">
              <a:buNone/>
            </a:pPr>
            <a:r>
              <a:rPr lang="en-US" sz="2800" b="1" dirty="0">
                <a:solidFill>
                  <a:srgbClr val="1B2A4A"/>
                </a:solidFill>
                <a:latin typeface="Trebuchet MS" pitchFamily="34" charset="0"/>
                <a:ea typeface="Trebuchet MS" pitchFamily="34" charset="-122"/>
                <a:cs typeface="Trebuchet MS" pitchFamily="34" charset="-120"/>
              </a:rPr>
              <a:t>Kansas City has a food access crisis</a:t>
            </a:r>
            <a:endParaRPr lang="en-US" sz="2800" dirty="0"/>
          </a:p>
        </p:txBody>
      </p:sp>
      <p:sp>
        <p:nvSpPr>
          <p:cNvPr id="5" name="Shape 2"/>
          <p:cNvSpPr/>
          <p:nvPr/>
        </p:nvSpPr>
        <p:spPr>
          <a:xfrm>
            <a:off x="457200" y="1097280"/>
            <a:ext cx="1920240" cy="13716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6" name="Text 3"/>
          <p:cNvSpPr/>
          <p:nvPr/>
        </p:nvSpPr>
        <p:spPr>
          <a:xfrm>
            <a:off x="457200" y="1234440"/>
            <a:ext cx="1920240" cy="640080"/>
          </a:xfrm>
          <a:prstGeom prst="rect">
            <a:avLst/>
          </a:prstGeom>
          <a:noFill/>
          <a:ln/>
        </p:spPr>
        <p:txBody>
          <a:bodyPr wrap="square" lIns="0" tIns="0" rIns="0" bIns="0" rtlCol="0" anchor="ctr"/>
          <a:lstStyle/>
          <a:p>
            <a:pPr algn="ctr" indent="0" marL="0">
              <a:buNone/>
            </a:pPr>
            <a:r>
              <a:rPr lang="en-US" sz="3600" b="1" dirty="0">
                <a:solidFill>
                  <a:srgbClr val="E8593C"/>
                </a:solidFill>
                <a:latin typeface="Trebuchet MS" pitchFamily="34" charset="0"/>
                <a:ea typeface="Trebuchet MS" pitchFamily="34" charset="-122"/>
                <a:cs typeface="Trebuchet MS" pitchFamily="34" charset="-120"/>
              </a:rPr>
              <a:t>1 in 7</a:t>
            </a:r>
            <a:endParaRPr lang="en-US" sz="3600" dirty="0"/>
          </a:p>
        </p:txBody>
      </p:sp>
      <p:sp>
        <p:nvSpPr>
          <p:cNvPr id="7" name="Text 4"/>
          <p:cNvSpPr/>
          <p:nvPr/>
        </p:nvSpPr>
        <p:spPr>
          <a:xfrm>
            <a:off x="457200" y="1874520"/>
            <a:ext cx="1920240" cy="502920"/>
          </a:xfrm>
          <a:prstGeom prst="rect">
            <a:avLst/>
          </a:prstGeom>
          <a:noFill/>
          <a:ln/>
        </p:spPr>
        <p:txBody>
          <a:bodyPr wrap="square" lIns="0" tIns="0" rIns="0" bIns="0" rtlCol="0" anchor="ctr"/>
          <a:lstStyle/>
          <a:p>
            <a:pPr algn="ctr" indent="0" marL="0">
              <a:buNone/>
            </a:pPr>
            <a:r>
              <a:rPr lang="en-US" sz="1200" dirty="0">
                <a:solidFill>
                  <a:srgbClr val="334155"/>
                </a:solidFill>
                <a:latin typeface="Calibri" pitchFamily="34" charset="0"/>
                <a:ea typeface="Calibri" pitchFamily="34" charset="-122"/>
                <a:cs typeface="Calibri" pitchFamily="34" charset="-120"/>
              </a:rPr>
              <a:t>KC residents</a:t>
            </a:r>
            <a:endParaRPr lang="en-US" sz="1200" dirty="0"/>
          </a:p>
          <a:p>
            <a:pPr algn="ctr" indent="0" marL="0">
              <a:buNone/>
            </a:pPr>
            <a:r>
              <a:rPr lang="en-US" sz="1200" dirty="0">
                <a:solidFill>
                  <a:srgbClr val="334155"/>
                </a:solidFill>
                <a:latin typeface="Calibri" pitchFamily="34" charset="0"/>
                <a:ea typeface="Calibri" pitchFamily="34" charset="-122"/>
                <a:cs typeface="Calibri" pitchFamily="34" charset="-120"/>
              </a:rPr>
              <a:t>food insecure</a:t>
            </a:r>
            <a:endParaRPr lang="en-US" sz="1200" dirty="0"/>
          </a:p>
        </p:txBody>
      </p:sp>
      <p:sp>
        <p:nvSpPr>
          <p:cNvPr id="8" name="Shape 5"/>
          <p:cNvSpPr/>
          <p:nvPr/>
        </p:nvSpPr>
        <p:spPr>
          <a:xfrm>
            <a:off x="2606040" y="1097280"/>
            <a:ext cx="1920240" cy="13716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9" name="Text 6"/>
          <p:cNvSpPr/>
          <p:nvPr/>
        </p:nvSpPr>
        <p:spPr>
          <a:xfrm>
            <a:off x="2606040" y="1234440"/>
            <a:ext cx="1920240" cy="640080"/>
          </a:xfrm>
          <a:prstGeom prst="rect">
            <a:avLst/>
          </a:prstGeom>
          <a:noFill/>
          <a:ln/>
        </p:spPr>
        <p:txBody>
          <a:bodyPr wrap="square" lIns="0" tIns="0" rIns="0" bIns="0" rtlCol="0" anchor="ctr"/>
          <a:lstStyle/>
          <a:p>
            <a:pPr algn="ctr" indent="0" marL="0">
              <a:buNone/>
            </a:pPr>
            <a:r>
              <a:rPr lang="en-US" sz="3600" b="1" dirty="0">
                <a:solidFill>
                  <a:srgbClr val="E8593C"/>
                </a:solidFill>
                <a:latin typeface="Trebuchet MS" pitchFamily="34" charset="0"/>
                <a:ea typeface="Trebuchet MS" pitchFamily="34" charset="-122"/>
                <a:cs typeface="Trebuchet MS" pitchFamily="34" charset="-120"/>
              </a:rPr>
              <a:t>3M lbs</a:t>
            </a:r>
            <a:endParaRPr lang="en-US" sz="3600" dirty="0"/>
          </a:p>
        </p:txBody>
      </p:sp>
      <p:sp>
        <p:nvSpPr>
          <p:cNvPr id="10" name="Text 7"/>
          <p:cNvSpPr/>
          <p:nvPr/>
        </p:nvSpPr>
        <p:spPr>
          <a:xfrm>
            <a:off x="2606040" y="1874520"/>
            <a:ext cx="1920240" cy="502920"/>
          </a:xfrm>
          <a:prstGeom prst="rect">
            <a:avLst/>
          </a:prstGeom>
          <a:noFill/>
          <a:ln/>
        </p:spPr>
        <p:txBody>
          <a:bodyPr wrap="square" lIns="0" tIns="0" rIns="0" bIns="0" rtlCol="0" anchor="ctr"/>
          <a:lstStyle/>
          <a:p>
            <a:pPr algn="ctr" indent="0" marL="0">
              <a:buNone/>
            </a:pPr>
            <a:r>
              <a:rPr lang="en-US" sz="1200" dirty="0">
                <a:solidFill>
                  <a:srgbClr val="334155"/>
                </a:solidFill>
                <a:latin typeface="Calibri" pitchFamily="34" charset="0"/>
                <a:ea typeface="Calibri" pitchFamily="34" charset="-122"/>
                <a:cs typeface="Calibri" pitchFamily="34" charset="-120"/>
              </a:rPr>
              <a:t>food lost from</a:t>
            </a:r>
            <a:endParaRPr lang="en-US" sz="1200" dirty="0"/>
          </a:p>
          <a:p>
            <a:pPr algn="ctr" indent="0" marL="0">
              <a:buNone/>
            </a:pPr>
            <a:r>
              <a:rPr lang="en-US" sz="1200" dirty="0">
                <a:solidFill>
                  <a:srgbClr val="334155"/>
                </a:solidFill>
                <a:latin typeface="Calibri" pitchFamily="34" charset="0"/>
                <a:ea typeface="Calibri" pitchFamily="34" charset="-122"/>
                <a:cs typeface="Calibri" pitchFamily="34" charset="-120"/>
              </a:rPr>
              <a:t>federal cuts</a:t>
            </a:r>
            <a:endParaRPr lang="en-US" sz="1200" dirty="0"/>
          </a:p>
        </p:txBody>
      </p:sp>
      <p:sp>
        <p:nvSpPr>
          <p:cNvPr id="11" name="Shape 8"/>
          <p:cNvSpPr/>
          <p:nvPr/>
        </p:nvSpPr>
        <p:spPr>
          <a:xfrm>
            <a:off x="4754880" y="1097280"/>
            <a:ext cx="1920240" cy="13716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2" name="Text 9"/>
          <p:cNvSpPr/>
          <p:nvPr/>
        </p:nvSpPr>
        <p:spPr>
          <a:xfrm>
            <a:off x="4754880" y="1234440"/>
            <a:ext cx="1920240" cy="640080"/>
          </a:xfrm>
          <a:prstGeom prst="rect">
            <a:avLst/>
          </a:prstGeom>
          <a:noFill/>
          <a:ln/>
        </p:spPr>
        <p:txBody>
          <a:bodyPr wrap="square" lIns="0" tIns="0" rIns="0" bIns="0" rtlCol="0" anchor="ctr"/>
          <a:lstStyle/>
          <a:p>
            <a:pPr algn="ctr" indent="0" marL="0">
              <a:buNone/>
            </a:pPr>
            <a:r>
              <a:rPr lang="en-US" sz="3600" b="1" dirty="0">
                <a:solidFill>
                  <a:srgbClr val="1B2A4A"/>
                </a:solidFill>
                <a:latin typeface="Trebuchet MS" pitchFamily="34" charset="0"/>
                <a:ea typeface="Trebuchet MS" pitchFamily="34" charset="-122"/>
                <a:cs typeface="Trebuchet MS" pitchFamily="34" charset="-120"/>
              </a:rPr>
              <a:t>4</a:t>
            </a:r>
            <a:endParaRPr lang="en-US" sz="3600" dirty="0"/>
          </a:p>
        </p:txBody>
      </p:sp>
      <p:sp>
        <p:nvSpPr>
          <p:cNvPr id="13" name="Text 10"/>
          <p:cNvSpPr/>
          <p:nvPr/>
        </p:nvSpPr>
        <p:spPr>
          <a:xfrm>
            <a:off x="4754880" y="1874520"/>
            <a:ext cx="1920240" cy="502920"/>
          </a:xfrm>
          <a:prstGeom prst="rect">
            <a:avLst/>
          </a:prstGeom>
          <a:noFill/>
          <a:ln/>
        </p:spPr>
        <p:txBody>
          <a:bodyPr wrap="square" lIns="0" tIns="0" rIns="0" bIns="0" rtlCol="0" anchor="ctr"/>
          <a:lstStyle/>
          <a:p>
            <a:pPr algn="ctr" indent="0" marL="0">
              <a:buNone/>
            </a:pPr>
            <a:r>
              <a:rPr lang="en-US" sz="1200" dirty="0">
                <a:solidFill>
                  <a:srgbClr val="334155"/>
                </a:solidFill>
                <a:latin typeface="Calibri" pitchFamily="34" charset="0"/>
                <a:ea typeface="Calibri" pitchFamily="34" charset="-122"/>
                <a:cs typeface="Calibri" pitchFamily="34" charset="-120"/>
              </a:rPr>
              <a:t>grocery stores</a:t>
            </a:r>
            <a:endParaRPr lang="en-US" sz="1200" dirty="0"/>
          </a:p>
          <a:p>
            <a:pPr algn="ctr" indent="0" marL="0">
              <a:buNone/>
            </a:pPr>
            <a:r>
              <a:rPr lang="en-US" sz="1200" dirty="0">
                <a:solidFill>
                  <a:srgbClr val="334155"/>
                </a:solidFill>
                <a:latin typeface="Calibri" pitchFamily="34" charset="0"/>
                <a:ea typeface="Calibri" pitchFamily="34" charset="-122"/>
                <a:cs typeface="Calibri" pitchFamily="34" charset="-120"/>
              </a:rPr>
              <a:t>closed since 2024</a:t>
            </a:r>
            <a:endParaRPr lang="en-US" sz="1200" dirty="0"/>
          </a:p>
        </p:txBody>
      </p:sp>
      <p:sp>
        <p:nvSpPr>
          <p:cNvPr id="14" name="Shape 11"/>
          <p:cNvSpPr/>
          <p:nvPr/>
        </p:nvSpPr>
        <p:spPr>
          <a:xfrm>
            <a:off x="6903720" y="1097280"/>
            <a:ext cx="1920240" cy="13716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5" name="Text 12"/>
          <p:cNvSpPr/>
          <p:nvPr/>
        </p:nvSpPr>
        <p:spPr>
          <a:xfrm>
            <a:off x="6903720" y="1234440"/>
            <a:ext cx="1920240" cy="640080"/>
          </a:xfrm>
          <a:prstGeom prst="rect">
            <a:avLst/>
          </a:prstGeom>
          <a:noFill/>
          <a:ln/>
        </p:spPr>
        <p:txBody>
          <a:bodyPr wrap="square" lIns="0" tIns="0" rIns="0" bIns="0" rtlCol="0" anchor="ctr"/>
          <a:lstStyle/>
          <a:p>
            <a:pPr algn="ctr" indent="0" marL="0">
              <a:buNone/>
            </a:pPr>
            <a:r>
              <a:rPr lang="en-US" sz="3600" b="1" dirty="0">
                <a:solidFill>
                  <a:srgbClr val="1B2A4A"/>
                </a:solidFill>
                <a:latin typeface="Trebuchet MS" pitchFamily="34" charset="0"/>
                <a:ea typeface="Trebuchet MS" pitchFamily="34" charset="-122"/>
                <a:cs typeface="Trebuchet MS" pitchFamily="34" charset="-120"/>
              </a:rPr>
              <a:t>24%</a:t>
            </a:r>
            <a:endParaRPr lang="en-US" sz="3600" dirty="0"/>
          </a:p>
        </p:txBody>
      </p:sp>
      <p:sp>
        <p:nvSpPr>
          <p:cNvPr id="16" name="Text 13"/>
          <p:cNvSpPr/>
          <p:nvPr/>
        </p:nvSpPr>
        <p:spPr>
          <a:xfrm>
            <a:off x="6903720" y="1874520"/>
            <a:ext cx="1920240" cy="502920"/>
          </a:xfrm>
          <a:prstGeom prst="rect">
            <a:avLst/>
          </a:prstGeom>
          <a:noFill/>
          <a:ln/>
        </p:spPr>
        <p:txBody>
          <a:bodyPr wrap="square" lIns="0" tIns="0" rIns="0" bIns="0" rtlCol="0" anchor="ctr"/>
          <a:lstStyle/>
          <a:p>
            <a:pPr algn="ctr" indent="0" marL="0">
              <a:buNone/>
            </a:pPr>
            <a:r>
              <a:rPr lang="en-US" sz="1200" dirty="0">
                <a:solidFill>
                  <a:srgbClr val="334155"/>
                </a:solidFill>
                <a:latin typeface="Calibri" pitchFamily="34" charset="0"/>
                <a:ea typeface="Calibri" pitchFamily="34" charset="-122"/>
                <a:cs typeface="Calibri" pitchFamily="34" charset="-120"/>
              </a:rPr>
              <a:t>spike in 311</a:t>
            </a:r>
            <a:endParaRPr lang="en-US" sz="1200" dirty="0"/>
          </a:p>
          <a:p>
            <a:pPr algn="ctr" indent="0" marL="0">
              <a:buNone/>
            </a:pPr>
            <a:r>
              <a:rPr lang="en-US" sz="1200" dirty="0">
                <a:solidFill>
                  <a:srgbClr val="334155"/>
                </a:solidFill>
                <a:latin typeface="Calibri" pitchFamily="34" charset="0"/>
                <a:ea typeface="Calibri" pitchFamily="34" charset="-122"/>
                <a:cs typeface="Calibri" pitchFamily="34" charset="-120"/>
              </a:rPr>
              <a:t>food calls</a:t>
            </a:r>
            <a:endParaRPr lang="en-US" sz="1200" dirty="0"/>
          </a:p>
        </p:txBody>
      </p:sp>
      <p:sp>
        <p:nvSpPr>
          <p:cNvPr id="17" name="Text 14"/>
          <p:cNvSpPr/>
          <p:nvPr/>
        </p:nvSpPr>
        <p:spPr>
          <a:xfrm>
            <a:off x="457200" y="2743200"/>
            <a:ext cx="8229600" cy="365760"/>
          </a:xfrm>
          <a:prstGeom prst="rect">
            <a:avLst/>
          </a:prstGeom>
          <a:noFill/>
          <a:ln/>
        </p:spPr>
        <p:txBody>
          <a:bodyPr wrap="square" lIns="0" tIns="0" rIns="0" bIns="0" rtlCol="0" anchor="ctr"/>
          <a:lstStyle/>
          <a:p>
            <a:pPr indent="0" marL="0">
              <a:buNone/>
            </a:pPr>
            <a:r>
              <a:rPr lang="en-US" sz="1400" b="1" dirty="0">
                <a:solidFill>
                  <a:srgbClr val="0D9488"/>
                </a:solidFill>
                <a:latin typeface="Calibri" pitchFamily="34" charset="0"/>
                <a:ea typeface="Calibri" pitchFamily="34" charset="-122"/>
                <a:cs typeface="Calibri" pitchFamily="34" charset="-120"/>
              </a:rPr>
              <a:t>Priority food desert ZIPs along the streetcar corridor</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3108960"/>
          <a:ext cx="8229600" cy="914400"/>
        </p:xfrm>
        <a:graphic>
          <a:graphicData uri="http://schemas.openxmlformats.org/drawingml/2006/table">
            <a:tbl>
              <a:tblPr/>
              <a:tblGrid>
                <a:gridCol w="731520"/>
                <a:gridCol w="1097280"/>
                <a:gridCol w="1097280"/>
                <a:gridCol w="1097280"/>
                <a:gridCol w="1371600"/>
                <a:gridCol w="192024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ZIP</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Population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Poverty Rate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No Vehicle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Food Insecurity</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Store Closure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r>
              <a:tr h="0">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64127</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14,200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41.3%</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45%</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21.4%</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Save-A-Lot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64130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18,700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38.2%</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38%</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18.2%</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Price Chopper</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0">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64128</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11,800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35.7%</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42%</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16.8%</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Dollar General Mkt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64108</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12,100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31.6%</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35%</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19.8%</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bl>
          </a:graphicData>
        </a:graphic>
      </p:graphicFrame>
      <p:sp>
        <p:nvSpPr>
          <p:cNvPr id="19" name="Text 15"/>
          <p:cNvSpPr/>
          <p:nvPr/>
        </p:nvSpPr>
        <p:spPr>
          <a:xfrm>
            <a:off x="457200" y="4663440"/>
            <a:ext cx="822960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Source: USDA Food Atlas, KC 311 Data, KC Star reporting, Census ACS 2024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pic>
        <p:nvPicPr>
          <p:cNvPr id="3" name="Image 0" descr="preencoded.png">    </p:cNvPr>
          <p:cNvPicPr>
            <a:picLocks noChangeAspect="1"/>
          </p:cNvPicPr>
          <p:nvPr/>
        </p:nvPicPr>
        <p:blipFill>
          <a:blip r:embed="rId1"/>
          <a:stretch>
            <a:fillRect/>
          </a:stretch>
        </p:blipFill>
        <p:spPr>
          <a:xfrm>
            <a:off x="548640" y="320040"/>
            <a:ext cx="320040" cy="320040"/>
          </a:xfrm>
          <a:prstGeom prst="rect">
            <a:avLst/>
          </a:prstGeom>
        </p:spPr>
      </p:pic>
      <p:sp>
        <p:nvSpPr>
          <p:cNvPr id="4" name="Text 1"/>
          <p:cNvSpPr/>
          <p:nvPr/>
        </p:nvSpPr>
        <p:spPr>
          <a:xfrm>
            <a:off x="960120" y="228600"/>
            <a:ext cx="7315200" cy="548640"/>
          </a:xfrm>
          <a:prstGeom prst="rect">
            <a:avLst/>
          </a:prstGeom>
          <a:noFill/>
          <a:ln/>
        </p:spPr>
        <p:txBody>
          <a:bodyPr wrap="square" lIns="0" tIns="0" rIns="0" bIns="0" rtlCol="0" anchor="ctr"/>
          <a:lstStyle/>
          <a:p>
            <a:pPr indent="0" marL="0">
              <a:buNone/>
            </a:pPr>
            <a:r>
              <a:rPr lang="en-US" sz="2800" b="1" dirty="0">
                <a:solidFill>
                  <a:srgbClr val="1B2A4A"/>
                </a:solidFill>
                <a:latin typeface="Trebuchet MS" pitchFamily="34" charset="0"/>
                <a:ea typeface="Trebuchet MS" pitchFamily="34" charset="-122"/>
                <a:cs typeface="Trebuchet MS" pitchFamily="34" charset="-120"/>
              </a:rPr>
              <a:t>The solution: StreetCart KC</a:t>
            </a:r>
            <a:endParaRPr lang="en-US" sz="2800" dirty="0"/>
          </a:p>
        </p:txBody>
      </p:sp>
      <p:sp>
        <p:nvSpPr>
          <p:cNvPr id="5" name="Text 2"/>
          <p:cNvSpPr/>
          <p:nvPr/>
        </p:nvSpPr>
        <p:spPr>
          <a:xfrm>
            <a:off x="960120" y="640080"/>
            <a:ext cx="7315200" cy="365760"/>
          </a:xfrm>
          <a:prstGeom prst="rect">
            <a:avLst/>
          </a:prstGeom>
          <a:noFill/>
          <a:ln/>
        </p:spPr>
        <p:txBody>
          <a:bodyPr wrap="square" lIns="0" tIns="0" rIns="0" bIns="0" rtlCol="0" anchor="ctr"/>
          <a:lstStyle/>
          <a:p>
            <a:pPr indent="0" marL="0">
              <a:buNone/>
            </a:pPr>
            <a:r>
              <a:rPr lang="en-US" sz="1500" dirty="0">
                <a:solidFill>
                  <a:srgbClr val="94A3B8"/>
                </a:solidFill>
                <a:latin typeface="Calibri" pitchFamily="34" charset="0"/>
                <a:ea typeface="Calibri" pitchFamily="34" charset="-122"/>
                <a:cs typeface="Calibri" pitchFamily="34" charset="-120"/>
              </a:rPr>
              <a:t>Three layers, one streetcar line</a:t>
            </a:r>
            <a:endParaRPr lang="en-US" sz="1500" dirty="0"/>
          </a:p>
        </p:txBody>
      </p:sp>
      <p:sp>
        <p:nvSpPr>
          <p:cNvPr id="6" name="Shape 3"/>
          <p:cNvSpPr/>
          <p:nvPr/>
        </p:nvSpPr>
        <p:spPr>
          <a:xfrm>
            <a:off x="457200" y="1188720"/>
            <a:ext cx="8229600" cy="1051560"/>
          </a:xfrm>
          <a:prstGeom prst="rect">
            <a:avLst/>
          </a:prstGeom>
          <a:solidFill>
            <a:srgbClr val="CCFBF1"/>
          </a:solidFill>
          <a:ln/>
          <a:effectLst>
            <a:outerShdw sx="100000" sy="100000" kx="0" ky="0" algn="bl" rotWithShape="0" blurRad="76200" dist="25400" dir="8100000">
              <a:srgbClr val="000000">
                <a:alpha val="10000"/>
              </a:srgbClr>
            </a:outerShdw>
          </a:effectLst>
        </p:spPr>
      </p:sp>
      <p:sp>
        <p:nvSpPr>
          <p:cNvPr id="7" name="Shape 4"/>
          <p:cNvSpPr/>
          <p:nvPr/>
        </p:nvSpPr>
        <p:spPr>
          <a:xfrm>
            <a:off x="457200" y="1188720"/>
            <a:ext cx="73152" cy="1051560"/>
          </a:xfrm>
          <a:prstGeom prst="rect">
            <a:avLst/>
          </a:prstGeom>
          <a:solidFill>
            <a:srgbClr val="0D9488"/>
          </a:solidFill>
          <a:ln/>
        </p:spPr>
      </p:sp>
      <p:pic>
        <p:nvPicPr>
          <p:cNvPr id="8" name="Image 1" descr="preencoded.png">    </p:cNvPr>
          <p:cNvPicPr>
            <a:picLocks noChangeAspect="1"/>
          </p:cNvPicPr>
          <p:nvPr/>
        </p:nvPicPr>
        <p:blipFill>
          <a:blip r:embed="rId2"/>
          <a:stretch>
            <a:fillRect/>
          </a:stretch>
        </p:blipFill>
        <p:spPr>
          <a:xfrm>
            <a:off x="777240" y="1463040"/>
            <a:ext cx="411480" cy="411480"/>
          </a:xfrm>
          <a:prstGeom prst="rect">
            <a:avLst/>
          </a:prstGeom>
        </p:spPr>
      </p:pic>
      <p:sp>
        <p:nvSpPr>
          <p:cNvPr id="9" name="Text 5"/>
          <p:cNvSpPr/>
          <p:nvPr/>
        </p:nvSpPr>
        <p:spPr>
          <a:xfrm>
            <a:off x="1371600" y="1280160"/>
            <a:ext cx="2743200" cy="365760"/>
          </a:xfrm>
          <a:prstGeom prst="rect">
            <a:avLst/>
          </a:prstGeom>
          <a:noFill/>
          <a:ln/>
        </p:spPr>
        <p:txBody>
          <a:bodyPr wrap="square" lIns="0" tIns="0" rIns="0" bIns="0" rtlCol="0" anchor="ctr"/>
          <a:lstStyle/>
          <a:p>
            <a:pPr indent="0" marL="0">
              <a:buNone/>
            </a:pPr>
            <a:r>
              <a:rPr lang="en-US" sz="1800" b="1" dirty="0">
                <a:solidFill>
                  <a:srgbClr val="1B2A4A"/>
                </a:solidFill>
                <a:latin typeface="Trebuchet MS" pitchFamily="34" charset="0"/>
                <a:ea typeface="Trebuchet MS" pitchFamily="34" charset="-122"/>
                <a:cs typeface="Trebuchet MS" pitchFamily="34" charset="-120"/>
              </a:rPr>
              <a:t>Rolling food spine</a:t>
            </a:r>
            <a:endParaRPr lang="en-US" sz="1800" dirty="0"/>
          </a:p>
        </p:txBody>
      </p:sp>
      <p:sp>
        <p:nvSpPr>
          <p:cNvPr id="10" name="Text 6"/>
          <p:cNvSpPr/>
          <p:nvPr/>
        </p:nvSpPr>
        <p:spPr>
          <a:xfrm>
            <a:off x="1371600" y="1645920"/>
            <a:ext cx="6858000" cy="50292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Coordinate grocery and pantry pickups at 4 streetcar stops in priority ZIPs. Grocers + pantries stage bundles at hub stops. Families pick up on their normal commute or volunteers deliver last-50-yards.</a:t>
            </a:r>
            <a:endParaRPr lang="en-US" sz="1200" dirty="0"/>
          </a:p>
        </p:txBody>
      </p:sp>
      <p:sp>
        <p:nvSpPr>
          <p:cNvPr id="11" name="Shape 7"/>
          <p:cNvSpPr/>
          <p:nvPr/>
        </p:nvSpPr>
        <p:spPr>
          <a:xfrm>
            <a:off x="457200" y="2423160"/>
            <a:ext cx="8229600" cy="1051560"/>
          </a:xfrm>
          <a:prstGeom prst="rect">
            <a:avLst/>
          </a:prstGeom>
          <a:solidFill>
            <a:srgbClr val="FEF3C7"/>
          </a:solidFill>
          <a:ln/>
          <a:effectLst>
            <a:outerShdw sx="100000" sy="100000" kx="0" ky="0" algn="bl" rotWithShape="0" blurRad="76200" dist="25400" dir="8100000">
              <a:srgbClr val="000000">
                <a:alpha val="10000"/>
              </a:srgbClr>
            </a:outerShdw>
          </a:effectLst>
        </p:spPr>
      </p:sp>
      <p:sp>
        <p:nvSpPr>
          <p:cNvPr id="12" name="Shape 8"/>
          <p:cNvSpPr/>
          <p:nvPr/>
        </p:nvSpPr>
        <p:spPr>
          <a:xfrm>
            <a:off x="457200" y="2423160"/>
            <a:ext cx="73152" cy="1051560"/>
          </a:xfrm>
          <a:prstGeom prst="rect">
            <a:avLst/>
          </a:prstGeom>
          <a:solidFill>
            <a:srgbClr val="F59E0B"/>
          </a:solidFill>
          <a:ln/>
        </p:spPr>
      </p:sp>
      <p:pic>
        <p:nvPicPr>
          <p:cNvPr id="13" name="Image 2" descr="preencoded.png">    </p:cNvPr>
          <p:cNvPicPr>
            <a:picLocks noChangeAspect="1"/>
          </p:cNvPicPr>
          <p:nvPr/>
        </p:nvPicPr>
        <p:blipFill>
          <a:blip r:embed="rId3"/>
          <a:stretch>
            <a:fillRect/>
          </a:stretch>
        </p:blipFill>
        <p:spPr>
          <a:xfrm>
            <a:off x="777240" y="2697480"/>
            <a:ext cx="411480" cy="411480"/>
          </a:xfrm>
          <a:prstGeom prst="rect">
            <a:avLst/>
          </a:prstGeom>
        </p:spPr>
      </p:pic>
      <p:sp>
        <p:nvSpPr>
          <p:cNvPr id="14" name="Text 9"/>
          <p:cNvSpPr/>
          <p:nvPr/>
        </p:nvSpPr>
        <p:spPr>
          <a:xfrm>
            <a:off x="1371600" y="2514600"/>
            <a:ext cx="2743200" cy="365760"/>
          </a:xfrm>
          <a:prstGeom prst="rect">
            <a:avLst/>
          </a:prstGeom>
          <a:noFill/>
          <a:ln/>
        </p:spPr>
        <p:txBody>
          <a:bodyPr wrap="square" lIns="0" tIns="0" rIns="0" bIns="0" rtlCol="0" anchor="ctr"/>
          <a:lstStyle/>
          <a:p>
            <a:pPr indent="0" marL="0">
              <a:buNone/>
            </a:pPr>
            <a:r>
              <a:rPr lang="en-US" sz="1800" b="1" dirty="0">
                <a:solidFill>
                  <a:srgbClr val="1B2A4A"/>
                </a:solidFill>
                <a:latin typeface="Trebuchet MS" pitchFamily="34" charset="0"/>
                <a:ea typeface="Trebuchet MS" pitchFamily="34" charset="-122"/>
                <a:cs typeface="Trebuchet MS" pitchFamily="34" charset="-120"/>
              </a:rPr>
              <a:t>March Madness tournament</a:t>
            </a:r>
            <a:endParaRPr lang="en-US" sz="1800" dirty="0"/>
          </a:p>
        </p:txBody>
      </p:sp>
      <p:sp>
        <p:nvSpPr>
          <p:cNvPr id="15" name="Text 10"/>
          <p:cNvSpPr/>
          <p:nvPr/>
        </p:nvSpPr>
        <p:spPr>
          <a:xfrm>
            <a:off x="1371600" y="2880360"/>
            <a:ext cx="6858000" cy="50292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Teams (Chiefs fans, Royals fans, KU, churches, schools) compete by making verified deliveries. Bracket advances weekly. The engagement engine that keeps volunteers showing up.</a:t>
            </a:r>
            <a:endParaRPr lang="en-US" sz="1200" dirty="0"/>
          </a:p>
        </p:txBody>
      </p:sp>
      <p:sp>
        <p:nvSpPr>
          <p:cNvPr id="16" name="Shape 11"/>
          <p:cNvSpPr/>
          <p:nvPr/>
        </p:nvSpPr>
        <p:spPr>
          <a:xfrm>
            <a:off x="457200" y="3657600"/>
            <a:ext cx="8229600" cy="1051560"/>
          </a:xfrm>
          <a:prstGeom prst="rect">
            <a:avLst/>
          </a:prstGeom>
          <a:solidFill>
            <a:srgbClr val="FFE4E6"/>
          </a:solidFill>
          <a:ln/>
          <a:effectLst>
            <a:outerShdw sx="100000" sy="100000" kx="0" ky="0" algn="bl" rotWithShape="0" blurRad="76200" dist="25400" dir="8100000">
              <a:srgbClr val="000000">
                <a:alpha val="10000"/>
              </a:srgbClr>
            </a:outerShdw>
          </a:effectLst>
        </p:spPr>
      </p:sp>
      <p:sp>
        <p:nvSpPr>
          <p:cNvPr id="17" name="Shape 12"/>
          <p:cNvSpPr/>
          <p:nvPr/>
        </p:nvSpPr>
        <p:spPr>
          <a:xfrm>
            <a:off x="457200" y="3657600"/>
            <a:ext cx="73152" cy="1051560"/>
          </a:xfrm>
          <a:prstGeom prst="rect">
            <a:avLst/>
          </a:prstGeom>
          <a:solidFill>
            <a:srgbClr val="E8593C"/>
          </a:solidFill>
          <a:ln/>
        </p:spPr>
      </p:sp>
      <p:pic>
        <p:nvPicPr>
          <p:cNvPr id="18" name="Image 3" descr="preencoded.png">    </p:cNvPr>
          <p:cNvPicPr>
            <a:picLocks noChangeAspect="1"/>
          </p:cNvPicPr>
          <p:nvPr/>
        </p:nvPicPr>
        <p:blipFill>
          <a:blip r:embed="rId4"/>
          <a:stretch>
            <a:fillRect/>
          </a:stretch>
        </p:blipFill>
        <p:spPr>
          <a:xfrm>
            <a:off x="777240" y="3931920"/>
            <a:ext cx="411480" cy="411480"/>
          </a:xfrm>
          <a:prstGeom prst="rect">
            <a:avLst/>
          </a:prstGeom>
        </p:spPr>
      </p:pic>
      <p:sp>
        <p:nvSpPr>
          <p:cNvPr id="19" name="Text 13"/>
          <p:cNvSpPr/>
          <p:nvPr/>
        </p:nvSpPr>
        <p:spPr>
          <a:xfrm>
            <a:off x="1371600" y="3749040"/>
            <a:ext cx="2743200" cy="365760"/>
          </a:xfrm>
          <a:prstGeom prst="rect">
            <a:avLst/>
          </a:prstGeom>
          <a:noFill/>
          <a:ln/>
        </p:spPr>
        <p:txBody>
          <a:bodyPr wrap="square" lIns="0" tIns="0" rIns="0" bIns="0" rtlCol="0" anchor="ctr"/>
          <a:lstStyle/>
          <a:p>
            <a:pPr indent="0" marL="0">
              <a:buNone/>
            </a:pPr>
            <a:r>
              <a:rPr lang="en-US" sz="1800" b="1" dirty="0">
                <a:solidFill>
                  <a:srgbClr val="1B2A4A"/>
                </a:solidFill>
                <a:latin typeface="Trebuchet MS" pitchFamily="34" charset="0"/>
                <a:ea typeface="Trebuchet MS" pitchFamily="34" charset="-122"/>
                <a:cs typeface="Trebuchet MS" pitchFamily="34" charset="-120"/>
              </a:rPr>
              <a:t>Live streetcar scoreboard</a:t>
            </a:r>
            <a:endParaRPr lang="en-US" sz="1800" dirty="0"/>
          </a:p>
        </p:txBody>
      </p:sp>
      <p:sp>
        <p:nvSpPr>
          <p:cNvPr id="20" name="Text 14"/>
          <p:cNvSpPr/>
          <p:nvPr/>
        </p:nvSpPr>
        <p:spPr>
          <a:xfrm>
            <a:off x="1371600" y="4114800"/>
            <a:ext cx="6858000" cy="50292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Repurpose existing station display screens to show the tournament leaderboard. Chiefs vs. Royals: 237 vs. 221 deliveries. The streetcar becomes the city's scoreboard.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pic>
        <p:nvPicPr>
          <p:cNvPr id="3" name="Image 0" descr="preencoded.png">    </p:cNvPr>
          <p:cNvPicPr>
            <a:picLocks noChangeAspect="1"/>
          </p:cNvPicPr>
          <p:nvPr/>
        </p:nvPicPr>
        <p:blipFill>
          <a:blip r:embed="rId1"/>
          <a:stretch>
            <a:fillRect/>
          </a:stretch>
        </p:blipFill>
        <p:spPr>
          <a:xfrm>
            <a:off x="548640" y="320040"/>
            <a:ext cx="320040" cy="320040"/>
          </a:xfrm>
          <a:prstGeom prst="rect">
            <a:avLst/>
          </a:prstGeom>
        </p:spPr>
      </p:pic>
      <p:sp>
        <p:nvSpPr>
          <p:cNvPr id="4" name="Text 1"/>
          <p:cNvSpPr/>
          <p:nvPr/>
        </p:nvSpPr>
        <p:spPr>
          <a:xfrm>
            <a:off x="960120" y="228600"/>
            <a:ext cx="7315200" cy="548640"/>
          </a:xfrm>
          <a:prstGeom prst="rect">
            <a:avLst/>
          </a:prstGeom>
          <a:noFill/>
          <a:ln/>
        </p:spPr>
        <p:txBody>
          <a:bodyPr wrap="square" lIns="0" tIns="0" rIns="0" bIns="0" rtlCol="0" anchor="ctr"/>
          <a:lstStyle/>
          <a:p>
            <a:pPr indent="0" marL="0">
              <a:buNone/>
            </a:pPr>
            <a:r>
              <a:rPr lang="en-US" sz="2800" b="1" dirty="0">
                <a:solidFill>
                  <a:srgbClr val="1B2A4A"/>
                </a:solidFill>
                <a:latin typeface="Trebuchet MS" pitchFamily="34" charset="0"/>
                <a:ea typeface="Trebuchet MS" pitchFamily="34" charset="-122"/>
                <a:cs typeface="Trebuchet MS" pitchFamily="34" charset="-120"/>
              </a:rPr>
              <a:t>60-day pilot timeline</a:t>
            </a:r>
            <a:endParaRPr lang="en-US" sz="2800" dirty="0"/>
          </a:p>
        </p:txBody>
      </p:sp>
      <p:sp>
        <p:nvSpPr>
          <p:cNvPr id="5" name="Shape 2"/>
          <p:cNvSpPr/>
          <p:nvPr/>
        </p:nvSpPr>
        <p:spPr>
          <a:xfrm>
            <a:off x="457200" y="1005840"/>
            <a:ext cx="8229600" cy="123444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6" name="Shape 3"/>
          <p:cNvSpPr/>
          <p:nvPr/>
        </p:nvSpPr>
        <p:spPr>
          <a:xfrm>
            <a:off x="457200" y="1005840"/>
            <a:ext cx="73152" cy="1234440"/>
          </a:xfrm>
          <a:prstGeom prst="rect">
            <a:avLst/>
          </a:prstGeom>
          <a:solidFill>
            <a:srgbClr val="0D9488"/>
          </a:solidFill>
          <a:ln/>
        </p:spPr>
      </p:sp>
      <p:sp>
        <p:nvSpPr>
          <p:cNvPr id="7" name="Text 4"/>
          <p:cNvSpPr/>
          <p:nvPr/>
        </p:nvSpPr>
        <p:spPr>
          <a:xfrm>
            <a:off x="777240" y="1051560"/>
            <a:ext cx="7315200" cy="274320"/>
          </a:xfrm>
          <a:prstGeom prst="rect">
            <a:avLst/>
          </a:prstGeom>
          <a:noFill/>
          <a:ln/>
        </p:spPr>
        <p:txBody>
          <a:bodyPr wrap="square" lIns="0" tIns="0" rIns="0" bIns="0" rtlCol="0" anchor="ctr"/>
          <a:lstStyle/>
          <a:p>
            <a:pPr indent="0" marL="0">
              <a:buNone/>
            </a:pPr>
            <a:r>
              <a:rPr lang="en-US" sz="1500" b="1" dirty="0">
                <a:solidFill>
                  <a:srgbClr val="0D9488"/>
                </a:solidFill>
                <a:latin typeface="Trebuchet MS" pitchFamily="34" charset="0"/>
                <a:ea typeface="Trebuchet MS" pitchFamily="34" charset="-122"/>
                <a:cs typeface="Trebuchet MS" pitchFamily="34" charset="-120"/>
              </a:rPr>
              <a:t>Phase 1: Stand up (Days 1-15)</a:t>
            </a:r>
            <a:endParaRPr lang="en-US" sz="1500" dirty="0"/>
          </a:p>
        </p:txBody>
      </p:sp>
      <p:sp>
        <p:nvSpPr>
          <p:cNvPr id="8" name="Text 5"/>
          <p:cNvSpPr/>
          <p:nvPr/>
        </p:nvSpPr>
        <p:spPr>
          <a:xfrm>
            <a:off x="777240" y="1371600"/>
            <a:ext cx="7680960" cy="822960"/>
          </a:xfrm>
          <a:prstGeom prst="rect">
            <a:avLst/>
          </a:prstGeom>
          <a:noFill/>
          <a:ln/>
        </p:spPr>
        <p:txBody>
          <a:bodyPr wrap="square" lIns="0" tIns="0" rIns="0" bIns="0" rtlCol="0" anchor="ctr"/>
          <a:lstStyle/>
          <a:p>
            <a:pPr marL="342900" indent="-342900">
              <a:spcAft>
                <a:spcPts val="200"/>
              </a:spcAft>
              <a:buSzPct val="100000"/>
              <a:buChar char="•"/>
            </a:pPr>
            <a:r>
              <a:rPr lang="en-US" sz="1100" dirty="0">
                <a:solidFill>
                  <a:srgbClr val="334155"/>
                </a:solidFill>
                <a:latin typeface="Calibri" pitchFamily="34" charset="0"/>
                <a:ea typeface="Calibri" pitchFamily="34" charset="-122"/>
                <a:cs typeface="Calibri" pitchFamily="34" charset="-120"/>
              </a:rPr>
              <a:t>Hire program coordinator + 2 community liaisons</a:t>
            </a:r>
            <a:endParaRPr lang="en-US" sz="1100" dirty="0"/>
          </a:p>
          <a:p>
            <a:pPr marL="342900" indent="-342900">
              <a:spcAft>
                <a:spcPts val="200"/>
              </a:spcAft>
              <a:buSzPct val="100000"/>
              <a:buChar char="•"/>
            </a:pPr>
            <a:r>
              <a:rPr lang="en-US" sz="1100" dirty="0">
                <a:solidFill>
                  <a:srgbClr val="334155"/>
                </a:solidFill>
                <a:latin typeface="Calibri" pitchFamily="34" charset="0"/>
                <a:ea typeface="Calibri" pitchFamily="34" charset="-122"/>
                <a:cs typeface="Calibri" pitchFamily="34" charset="-120"/>
              </a:rPr>
              <a:t>Sign MOUs with Harvesters, Guadalupe Centers, Bishop Sullivan</a:t>
            </a:r>
            <a:endParaRPr lang="en-US" sz="1100" dirty="0"/>
          </a:p>
          <a:p>
            <a:pPr marL="342900" indent="-342900">
              <a:spcAft>
                <a:spcPts val="200"/>
              </a:spcAft>
              <a:buSzPct val="100000"/>
              <a:buChar char="•"/>
            </a:pPr>
            <a:r>
              <a:rPr lang="en-US" sz="1100" dirty="0">
                <a:solidFill>
                  <a:srgbClr val="334155"/>
                </a:solidFill>
                <a:latin typeface="Calibri" pitchFamily="34" charset="0"/>
                <a:ea typeface="Calibri" pitchFamily="34" charset="-122"/>
                <a:cs typeface="Calibri" pitchFamily="34" charset="-120"/>
              </a:rPr>
              <a:t>Identify 4 streetcar hub stops (Union Station, 3rd &amp; Grand, River Market, Pershing)</a:t>
            </a:r>
            <a:endParaRPr lang="en-US" sz="1100" dirty="0"/>
          </a:p>
          <a:p>
            <a:pPr marL="342900" indent="-342900">
              <a:spcAft>
                <a:spcPts val="200"/>
              </a:spcAft>
              <a:buSzPct val="100000"/>
              <a:buChar char="•"/>
            </a:pPr>
            <a:r>
              <a:rPr lang="en-US" sz="1100" dirty="0">
                <a:solidFill>
                  <a:srgbClr val="334155"/>
                </a:solidFill>
                <a:latin typeface="Calibri" pitchFamily="34" charset="0"/>
                <a:ea typeface="Calibri" pitchFamily="34" charset="-122"/>
                <a:cs typeface="Calibri" pitchFamily="34" charset="-120"/>
              </a:rPr>
              <a:t>Build volunteer registration portal + points ledger</a:t>
            </a:r>
            <a:endParaRPr lang="en-US" sz="1100" dirty="0"/>
          </a:p>
          <a:p>
            <a:pPr marL="342900" indent="-342900">
              <a:spcAft>
                <a:spcPts val="200"/>
              </a:spcAft>
              <a:buSzPct val="100000"/>
              <a:buChar char="•"/>
            </a:pPr>
            <a:r>
              <a:rPr lang="en-US" sz="1100" dirty="0">
                <a:solidFill>
                  <a:srgbClr val="334155"/>
                </a:solidFill>
                <a:latin typeface="Calibri" pitchFamily="34" charset="0"/>
                <a:ea typeface="Calibri" pitchFamily="34" charset="-122"/>
                <a:cs typeface="Calibri" pitchFamily="34" charset="-120"/>
              </a:rPr>
              <a:t>Launch recruitment: target 20 teams (schools, churches, sports fan clubs)</a:t>
            </a:r>
            <a:endParaRPr lang="en-US" sz="1100" dirty="0"/>
          </a:p>
        </p:txBody>
      </p:sp>
      <p:sp>
        <p:nvSpPr>
          <p:cNvPr id="9" name="Shape 6"/>
          <p:cNvSpPr/>
          <p:nvPr/>
        </p:nvSpPr>
        <p:spPr>
          <a:xfrm>
            <a:off x="457200" y="2377440"/>
            <a:ext cx="8229600" cy="123444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0" name="Shape 7"/>
          <p:cNvSpPr/>
          <p:nvPr/>
        </p:nvSpPr>
        <p:spPr>
          <a:xfrm>
            <a:off x="457200" y="2377440"/>
            <a:ext cx="73152" cy="1234440"/>
          </a:xfrm>
          <a:prstGeom prst="rect">
            <a:avLst/>
          </a:prstGeom>
          <a:solidFill>
            <a:srgbClr val="F59E0B"/>
          </a:solidFill>
          <a:ln/>
        </p:spPr>
      </p:sp>
      <p:sp>
        <p:nvSpPr>
          <p:cNvPr id="11" name="Text 8"/>
          <p:cNvSpPr/>
          <p:nvPr/>
        </p:nvSpPr>
        <p:spPr>
          <a:xfrm>
            <a:off x="777240" y="2423160"/>
            <a:ext cx="7315200" cy="274320"/>
          </a:xfrm>
          <a:prstGeom prst="rect">
            <a:avLst/>
          </a:prstGeom>
          <a:noFill/>
          <a:ln/>
        </p:spPr>
        <p:txBody>
          <a:bodyPr wrap="square" lIns="0" tIns="0" rIns="0" bIns="0" rtlCol="0" anchor="ctr"/>
          <a:lstStyle/>
          <a:p>
            <a:pPr indent="0" marL="0">
              <a:buNone/>
            </a:pPr>
            <a:r>
              <a:rPr lang="en-US" sz="1500" b="1" dirty="0">
                <a:solidFill>
                  <a:srgbClr val="F59E0B"/>
                </a:solidFill>
                <a:latin typeface="Trebuchet MS" pitchFamily="34" charset="0"/>
                <a:ea typeface="Trebuchet MS" pitchFamily="34" charset="-122"/>
                <a:cs typeface="Trebuchet MS" pitchFamily="34" charset="-120"/>
              </a:rPr>
              <a:t>Phase 2: Run the tournament (Days 16-50)</a:t>
            </a:r>
            <a:endParaRPr lang="en-US" sz="1500" dirty="0"/>
          </a:p>
        </p:txBody>
      </p:sp>
      <p:sp>
        <p:nvSpPr>
          <p:cNvPr id="12" name="Text 9"/>
          <p:cNvSpPr/>
          <p:nvPr/>
        </p:nvSpPr>
        <p:spPr>
          <a:xfrm>
            <a:off x="777240" y="2743200"/>
            <a:ext cx="7680960" cy="822960"/>
          </a:xfrm>
          <a:prstGeom prst="rect">
            <a:avLst/>
          </a:prstGeom>
          <a:noFill/>
          <a:ln/>
        </p:spPr>
        <p:txBody>
          <a:bodyPr wrap="square" lIns="0" tIns="0" rIns="0" bIns="0" rtlCol="0" anchor="ctr"/>
          <a:lstStyle/>
          <a:p>
            <a:pPr marL="342900" indent="-342900">
              <a:spcAft>
                <a:spcPts val="200"/>
              </a:spcAft>
              <a:buSzPct val="100000"/>
              <a:buChar char="•"/>
            </a:pPr>
            <a:r>
              <a:rPr lang="en-US" sz="1100" dirty="0">
                <a:solidFill>
                  <a:srgbClr val="334155"/>
                </a:solidFill>
                <a:latin typeface="Calibri" pitchFamily="34" charset="0"/>
                <a:ea typeface="Calibri" pitchFamily="34" charset="-122"/>
                <a:cs typeface="Calibri" pitchFamily="34" charset="-120"/>
              </a:rPr>
              <a:t>Weekly bracket rounds: teams earn points per verified delivery</a:t>
            </a:r>
            <a:endParaRPr lang="en-US" sz="1100" dirty="0"/>
          </a:p>
          <a:p>
            <a:pPr marL="342900" indent="-342900">
              <a:spcAft>
                <a:spcPts val="200"/>
              </a:spcAft>
              <a:buSzPct val="100000"/>
              <a:buChar char="•"/>
            </a:pPr>
            <a:r>
              <a:rPr lang="en-US" sz="1100" dirty="0">
                <a:solidFill>
                  <a:srgbClr val="334155"/>
                </a:solidFill>
                <a:latin typeface="Calibri" pitchFamily="34" charset="0"/>
                <a:ea typeface="Calibri" pitchFamily="34" charset="-122"/>
                <a:cs typeface="Calibri" pitchFamily="34" charset="-120"/>
              </a:rPr>
              <a:t>Stage grocery bundles at hub stops (Mon/Wed/Fri schedule)</a:t>
            </a:r>
            <a:endParaRPr lang="en-US" sz="1100" dirty="0"/>
          </a:p>
          <a:p>
            <a:pPr marL="342900" indent="-342900">
              <a:spcAft>
                <a:spcPts val="200"/>
              </a:spcAft>
              <a:buSzPct val="100000"/>
              <a:buChar char="•"/>
            </a:pPr>
            <a:r>
              <a:rPr lang="en-US" sz="1100" dirty="0">
                <a:solidFill>
                  <a:srgbClr val="334155"/>
                </a:solidFill>
                <a:latin typeface="Calibri" pitchFamily="34" charset="0"/>
                <a:ea typeface="Calibri" pitchFamily="34" charset="-122"/>
                <a:cs typeface="Calibri" pitchFamily="34" charset="-120"/>
              </a:rPr>
              <a:t>Activate streetcar station scoreboards with live leaderboard</a:t>
            </a:r>
            <a:endParaRPr lang="en-US" sz="1100" dirty="0"/>
          </a:p>
          <a:p>
            <a:pPr marL="342900" indent="-342900">
              <a:spcAft>
                <a:spcPts val="200"/>
              </a:spcAft>
              <a:buSzPct val="100000"/>
              <a:buChar char="•"/>
            </a:pPr>
            <a:r>
              <a:rPr lang="en-US" sz="1100" dirty="0">
                <a:solidFill>
                  <a:srgbClr val="334155"/>
                </a:solidFill>
                <a:latin typeface="Calibri" pitchFamily="34" charset="0"/>
                <a:ea typeface="Calibri" pitchFamily="34" charset="-122"/>
                <a:cs typeface="Calibri" pitchFamily="34" charset="-120"/>
              </a:rPr>
              <a:t>Track KPIs: households served, avg distance to food, volunteer retention</a:t>
            </a:r>
            <a:endParaRPr lang="en-US" sz="1100" dirty="0"/>
          </a:p>
          <a:p>
            <a:pPr marL="342900" indent="-342900">
              <a:spcAft>
                <a:spcPts val="200"/>
              </a:spcAft>
              <a:buSzPct val="100000"/>
              <a:buChar char="•"/>
            </a:pPr>
            <a:r>
              <a:rPr lang="en-US" sz="1100" dirty="0">
                <a:solidFill>
                  <a:srgbClr val="334155"/>
                </a:solidFill>
                <a:latin typeface="Calibri" pitchFamily="34" charset="0"/>
                <a:ea typeface="Calibri" pitchFamily="34" charset="-122"/>
                <a:cs typeface="Calibri" pitchFamily="34" charset="-120"/>
              </a:rPr>
              <a:t>Bilingual SMS alerts to registered families (English + Spanish)</a:t>
            </a:r>
            <a:endParaRPr lang="en-US" sz="1100" dirty="0"/>
          </a:p>
        </p:txBody>
      </p:sp>
      <p:sp>
        <p:nvSpPr>
          <p:cNvPr id="13" name="Shape 10"/>
          <p:cNvSpPr/>
          <p:nvPr/>
        </p:nvSpPr>
        <p:spPr>
          <a:xfrm>
            <a:off x="457200" y="3749040"/>
            <a:ext cx="8229600" cy="123444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4" name="Shape 11"/>
          <p:cNvSpPr/>
          <p:nvPr/>
        </p:nvSpPr>
        <p:spPr>
          <a:xfrm>
            <a:off x="457200" y="3749040"/>
            <a:ext cx="73152" cy="1234440"/>
          </a:xfrm>
          <a:prstGeom prst="rect">
            <a:avLst/>
          </a:prstGeom>
          <a:solidFill>
            <a:srgbClr val="E8593C"/>
          </a:solidFill>
          <a:ln/>
        </p:spPr>
      </p:sp>
      <p:sp>
        <p:nvSpPr>
          <p:cNvPr id="15" name="Text 12"/>
          <p:cNvSpPr/>
          <p:nvPr/>
        </p:nvSpPr>
        <p:spPr>
          <a:xfrm>
            <a:off x="777240" y="3794760"/>
            <a:ext cx="7315200" cy="274320"/>
          </a:xfrm>
          <a:prstGeom prst="rect">
            <a:avLst/>
          </a:prstGeom>
          <a:noFill/>
          <a:ln/>
        </p:spPr>
        <p:txBody>
          <a:bodyPr wrap="square" lIns="0" tIns="0" rIns="0" bIns="0" rtlCol="0" anchor="ctr"/>
          <a:lstStyle/>
          <a:p>
            <a:pPr indent="0" marL="0">
              <a:buNone/>
            </a:pPr>
            <a:r>
              <a:rPr lang="en-US" sz="1500" b="1" dirty="0">
                <a:solidFill>
                  <a:srgbClr val="E8593C"/>
                </a:solidFill>
                <a:latin typeface="Trebuchet MS" pitchFamily="34" charset="0"/>
                <a:ea typeface="Trebuchet MS" pitchFamily="34" charset="-122"/>
                <a:cs typeface="Trebuchet MS" pitchFamily="34" charset="-120"/>
              </a:rPr>
              <a:t>Phase 3: Prove + renew (Days 51-60)</a:t>
            </a:r>
            <a:endParaRPr lang="en-US" sz="1500" dirty="0"/>
          </a:p>
        </p:txBody>
      </p:sp>
      <p:sp>
        <p:nvSpPr>
          <p:cNvPr id="16" name="Text 13"/>
          <p:cNvSpPr/>
          <p:nvPr/>
        </p:nvSpPr>
        <p:spPr>
          <a:xfrm>
            <a:off x="777240" y="4114800"/>
            <a:ext cx="7680960" cy="822960"/>
          </a:xfrm>
          <a:prstGeom prst="rect">
            <a:avLst/>
          </a:prstGeom>
          <a:noFill/>
          <a:ln/>
        </p:spPr>
        <p:txBody>
          <a:bodyPr wrap="square" lIns="0" tIns="0" rIns="0" bIns="0" rtlCol="0" anchor="ctr"/>
          <a:lstStyle/>
          <a:p>
            <a:pPr marL="342900" indent="-342900">
              <a:spcAft>
                <a:spcPts val="200"/>
              </a:spcAft>
              <a:buSzPct val="100000"/>
              <a:buChar char="•"/>
            </a:pPr>
            <a:r>
              <a:rPr lang="en-US" sz="1100" dirty="0">
                <a:solidFill>
                  <a:srgbClr val="334155"/>
                </a:solidFill>
                <a:latin typeface="Calibri" pitchFamily="34" charset="0"/>
                <a:ea typeface="Calibri" pitchFamily="34" charset="-122"/>
                <a:cs typeface="Calibri" pitchFamily="34" charset="-120"/>
              </a:rPr>
              <a:t>Compile impact report: households reached, lbs distributed, cost per meal</a:t>
            </a:r>
            <a:endParaRPr lang="en-US" sz="1100" dirty="0"/>
          </a:p>
          <a:p>
            <a:pPr marL="342900" indent="-342900">
              <a:spcAft>
                <a:spcPts val="200"/>
              </a:spcAft>
              <a:buSzPct val="100000"/>
              <a:buChar char="•"/>
            </a:pPr>
            <a:r>
              <a:rPr lang="en-US" sz="1100" dirty="0">
                <a:solidFill>
                  <a:srgbClr val="334155"/>
                </a:solidFill>
                <a:latin typeface="Calibri" pitchFamily="34" charset="0"/>
                <a:ea typeface="Calibri" pitchFamily="34" charset="-122"/>
                <a:cs typeface="Calibri" pitchFamily="34" charset="-120"/>
              </a:rPr>
              <a:t>Present renewal case to city council with ROI data</a:t>
            </a:r>
            <a:endParaRPr lang="en-US" sz="1100" dirty="0"/>
          </a:p>
          <a:p>
            <a:pPr marL="342900" indent="-342900">
              <a:spcAft>
                <a:spcPts val="200"/>
              </a:spcAft>
              <a:buSzPct val="100000"/>
              <a:buChar char="•"/>
            </a:pPr>
            <a:r>
              <a:rPr lang="en-US" sz="1100" dirty="0">
                <a:solidFill>
                  <a:srgbClr val="334155"/>
                </a:solidFill>
                <a:latin typeface="Calibri" pitchFamily="34" charset="0"/>
                <a:ea typeface="Calibri" pitchFamily="34" charset="-122"/>
                <a:cs typeface="Calibri" pitchFamily="34" charset="-120"/>
              </a:rPr>
              <a:t>Award winning team the custom streetcar wrap design</a:t>
            </a:r>
            <a:endParaRPr lang="en-US" sz="1100" dirty="0"/>
          </a:p>
          <a:p>
            <a:pPr marL="342900" indent="-342900">
              <a:spcAft>
                <a:spcPts val="200"/>
              </a:spcAft>
              <a:buSzPct val="100000"/>
              <a:buChar char="•"/>
            </a:pPr>
            <a:r>
              <a:rPr lang="en-US" sz="1100" dirty="0">
                <a:solidFill>
                  <a:srgbClr val="334155"/>
                </a:solidFill>
                <a:latin typeface="Calibri" pitchFamily="34" charset="0"/>
                <a:ea typeface="Calibri" pitchFamily="34" charset="-122"/>
                <a:cs typeface="Calibri" pitchFamily="34" charset="-120"/>
              </a:rPr>
              <a:t>Publish results dashboard for public accountability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pic>
        <p:nvPicPr>
          <p:cNvPr id="3" name="Image 0" descr="preencoded.png">    </p:cNvPr>
          <p:cNvPicPr>
            <a:picLocks noChangeAspect="1"/>
          </p:cNvPicPr>
          <p:nvPr/>
        </p:nvPicPr>
        <p:blipFill>
          <a:blip r:embed="rId1"/>
          <a:stretch>
            <a:fillRect/>
          </a:stretch>
        </p:blipFill>
        <p:spPr>
          <a:xfrm>
            <a:off x="548640" y="320040"/>
            <a:ext cx="320040" cy="320040"/>
          </a:xfrm>
          <a:prstGeom prst="rect">
            <a:avLst/>
          </a:prstGeom>
        </p:spPr>
      </p:pic>
      <p:sp>
        <p:nvSpPr>
          <p:cNvPr id="4" name="Text 1"/>
          <p:cNvSpPr/>
          <p:nvPr/>
        </p:nvSpPr>
        <p:spPr>
          <a:xfrm>
            <a:off x="960120" y="228600"/>
            <a:ext cx="7315200" cy="548640"/>
          </a:xfrm>
          <a:prstGeom prst="rect">
            <a:avLst/>
          </a:prstGeom>
          <a:noFill/>
          <a:ln/>
        </p:spPr>
        <p:txBody>
          <a:bodyPr wrap="square" lIns="0" tIns="0" rIns="0" bIns="0" rtlCol="0" anchor="ctr"/>
          <a:lstStyle/>
          <a:p>
            <a:pPr indent="0" marL="0">
              <a:buNone/>
            </a:pPr>
            <a:r>
              <a:rPr lang="en-US" sz="2800" b="1" dirty="0">
                <a:solidFill>
                  <a:srgbClr val="1B2A4A"/>
                </a:solidFill>
                <a:latin typeface="Trebuchet MS" pitchFamily="34" charset="0"/>
                <a:ea typeface="Trebuchet MS" pitchFamily="34" charset="-122"/>
                <a:cs typeface="Trebuchet MS" pitchFamily="34" charset="-120"/>
              </a:rPr>
              <a:t>$500K budget allocation</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914400"/>
        </p:xfrm>
        <a:graphic>
          <a:graphicData uri="http://schemas.openxmlformats.org/drawingml/2006/table">
            <a:tbl>
              <a:tblPr/>
              <a:tblGrid>
                <a:gridCol w="2011680"/>
                <a:gridCol w="1097280"/>
                <a:gridCol w="914400"/>
                <a:gridCol w="4206240"/>
              </a:tblGrid>
              <a:tr h="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Category</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Amount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 of Total</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Details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r>
              <a:tr h="0">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Program staff</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$120,000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24%</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Coordinator ($65K) + 2 community liaisons ($27.5K each)</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Food procurement + logistics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$135,000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27%</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Grocery bundles, cold storage rental, pantry partner stipends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0">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Tech build + data integration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$55,000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Volunteer portal, points ledger, API integrations, SMS system</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Signage + scoreboard integration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$40,000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Streetcar display API, 4 hub stop signage, wrap design fund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0">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Marketing + community outreach</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$45,000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Bilingual flyers, SMS campaigns, church/school partnerships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Team incentives + prizes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$30,000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Custom streetcar wrap production, team recognition events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0">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Evaluation + reporting</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$25,000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Impact analysis, city council presentation, public dashboard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334155"/>
                          </a:solidFill>
                          <a:latin typeface="Calibri" pitchFamily="34" charset="0"/>
                          <a:ea typeface="Calibri" pitchFamily="34" charset="-122"/>
                          <a:cs typeface="Calibri" pitchFamily="34" charset="-120"/>
                        </a:rPr>
                        <a:t>Contingency + renewal runway</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000" b="1" dirty="0">
                          <a:solidFill>
                            <a:srgbClr val="334155"/>
                          </a:solidFill>
                          <a:latin typeface="Calibri" pitchFamily="34" charset="0"/>
                          <a:ea typeface="Calibri" pitchFamily="34" charset="-122"/>
                          <a:cs typeface="Calibri" pitchFamily="34" charset="-120"/>
                        </a:rPr>
                        <a:t>$50,000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Buffer for scale-up, renewal bridge if contract extends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$500,000</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tc>
                  <a:txBody>
                    <a:bodyPr/>
                    <a:lstStyle/>
                    <a:p>
                      <a:pPr indent="0" marL="0">
                        <a:buNone/>
                      </a:pP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tr>
            </a:tbl>
          </a:graphicData>
        </a:graphic>
      </p:graphicFrame>
      <p:sp>
        <p:nvSpPr>
          <p:cNvPr id="6" name="Shape 2"/>
          <p:cNvSpPr/>
          <p:nvPr/>
        </p:nvSpPr>
        <p:spPr>
          <a:xfrm>
            <a:off x="457200" y="4114800"/>
            <a:ext cx="8229600" cy="731520"/>
          </a:xfrm>
          <a:prstGeom prst="rect">
            <a:avLst/>
          </a:prstGeom>
          <a:solidFill>
            <a:srgbClr val="CCFBF1"/>
          </a:solidFill>
          <a:ln/>
        </p:spPr>
      </p:sp>
      <p:sp>
        <p:nvSpPr>
          <p:cNvPr id="7" name="Text 3"/>
          <p:cNvSpPr/>
          <p:nvPr/>
        </p:nvSpPr>
        <p:spPr>
          <a:xfrm>
            <a:off x="640080" y="4160520"/>
            <a:ext cx="7863840" cy="64008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Operating cost target: </a:t>
            </a:r>
            <a:pPr indent="0" marL="0">
              <a:buNone/>
            </a:pPr>
            <a:r>
              <a:rPr lang="en-US" sz="1300" b="1" dirty="0">
                <a:solidFill>
                  <a:srgbClr val="0D9488"/>
                </a:solidFill>
                <a:latin typeface="Trebuchet MS" pitchFamily="34" charset="0"/>
                <a:ea typeface="Trebuchet MS" pitchFamily="34" charset="-122"/>
                <a:cs typeface="Trebuchet MS" pitchFamily="34" charset="-120"/>
              </a:rPr>
              <a:t>$150K </a:t>
            </a:r>
            <a:pPr indent="0" marL="0">
              <a:buNone/>
            </a:pPr>
            <a:r>
              <a:rPr lang="en-US" sz="1300" dirty="0">
                <a:solidFill>
                  <a:srgbClr val="334155"/>
                </a:solidFill>
                <a:latin typeface="Calibri" pitchFamily="34" charset="0"/>
                <a:ea typeface="Calibri" pitchFamily="34" charset="-122"/>
                <a:cs typeface="Calibri" pitchFamily="34" charset="-120"/>
              </a:rPr>
              <a:t>(staff + food + logistics = core ops)  |  </a:t>
            </a:r>
            <a:pPr indent="0" marL="0">
              <a:buNone/>
            </a:pPr>
            <a:r>
              <a:rPr lang="en-US" sz="1300" b="1" dirty="0">
                <a:solidFill>
                  <a:srgbClr val="1B2A4A"/>
                </a:solidFill>
                <a:latin typeface="Trebuchet MS" pitchFamily="34" charset="0"/>
                <a:ea typeface="Trebuchet MS" pitchFamily="34" charset="-122"/>
                <a:cs typeface="Trebuchet MS" pitchFamily="34" charset="-120"/>
              </a:rPr>
              <a:t>Remaining $350K </a:t>
            </a:r>
            <a:pPr indent="0" marL="0">
              <a:buNone/>
            </a:pPr>
            <a:r>
              <a:rPr lang="en-US" sz="1300" dirty="0">
                <a:solidFill>
                  <a:srgbClr val="334155"/>
                </a:solidFill>
                <a:latin typeface="Calibri" pitchFamily="34" charset="0"/>
                <a:ea typeface="Calibri" pitchFamily="34" charset="-122"/>
                <a:cs typeface="Calibri" pitchFamily="34" charset="-120"/>
              </a:rPr>
              <a:t>funds tech, marketing, incentives, and renewal runway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pic>
        <p:nvPicPr>
          <p:cNvPr id="3" name="Image 0" descr="preencoded.png">    </p:cNvPr>
          <p:cNvPicPr>
            <a:picLocks noChangeAspect="1"/>
          </p:cNvPicPr>
          <p:nvPr/>
        </p:nvPicPr>
        <p:blipFill>
          <a:blip r:embed="rId1"/>
          <a:stretch>
            <a:fillRect/>
          </a:stretch>
        </p:blipFill>
        <p:spPr>
          <a:xfrm>
            <a:off x="548640" y="320040"/>
            <a:ext cx="320040" cy="320040"/>
          </a:xfrm>
          <a:prstGeom prst="rect">
            <a:avLst/>
          </a:prstGeom>
        </p:spPr>
      </p:pic>
      <p:sp>
        <p:nvSpPr>
          <p:cNvPr id="4" name="Text 1"/>
          <p:cNvSpPr/>
          <p:nvPr/>
        </p:nvSpPr>
        <p:spPr>
          <a:xfrm>
            <a:off x="960120" y="228600"/>
            <a:ext cx="7315200" cy="548640"/>
          </a:xfrm>
          <a:prstGeom prst="rect">
            <a:avLst/>
          </a:prstGeom>
          <a:noFill/>
          <a:ln/>
        </p:spPr>
        <p:txBody>
          <a:bodyPr wrap="square" lIns="0" tIns="0" rIns="0" bIns="0" rtlCol="0" anchor="ctr"/>
          <a:lstStyle/>
          <a:p>
            <a:pPr indent="0" marL="0">
              <a:buNone/>
            </a:pPr>
            <a:r>
              <a:rPr lang="en-US" sz="2800" b="1" dirty="0">
                <a:solidFill>
                  <a:srgbClr val="1B2A4A"/>
                </a:solidFill>
                <a:latin typeface="Trebuchet MS" pitchFamily="34" charset="0"/>
                <a:ea typeface="Trebuchet MS" pitchFamily="34" charset="-122"/>
                <a:cs typeface="Trebuchet MS" pitchFamily="34" charset="-120"/>
              </a:rPr>
              <a:t>City ROI: what $500K buys</a:t>
            </a:r>
            <a:endParaRPr lang="en-US" sz="2800" dirty="0"/>
          </a:p>
        </p:txBody>
      </p:sp>
      <p:sp>
        <p:nvSpPr>
          <p:cNvPr id="5" name="Shape 2"/>
          <p:cNvSpPr/>
          <p:nvPr/>
        </p:nvSpPr>
        <p:spPr>
          <a:xfrm>
            <a:off x="457200" y="1005840"/>
            <a:ext cx="2560320" cy="1554480"/>
          </a:xfrm>
          <a:prstGeom prst="rect">
            <a:avLst/>
          </a:prstGeom>
          <a:solidFill>
            <a:srgbClr val="FFFFFF"/>
          </a:solidFill>
          <a:ln/>
          <a:effectLst>
            <a:outerShdw sx="100000" sy="100000" kx="0" ky="0" algn="bl" rotWithShape="0" blurRad="76200" dist="25400" dir="8100000">
              <a:srgbClr val="000000">
                <a:alpha val="10000"/>
              </a:srgbClr>
            </a:outerShdw>
          </a:effectLst>
        </p:spPr>
      </p:sp>
      <p:pic>
        <p:nvPicPr>
          <p:cNvPr id="6" name="Image 1" descr="preencoded.png">    </p:cNvPr>
          <p:cNvPicPr>
            <a:picLocks noChangeAspect="1"/>
          </p:cNvPicPr>
          <p:nvPr/>
        </p:nvPicPr>
        <p:blipFill>
          <a:blip r:embed="rId2"/>
          <a:stretch>
            <a:fillRect/>
          </a:stretch>
        </p:blipFill>
        <p:spPr>
          <a:xfrm>
            <a:off x="640080" y="1188720"/>
            <a:ext cx="320040" cy="320040"/>
          </a:xfrm>
          <a:prstGeom prst="rect">
            <a:avLst/>
          </a:prstGeom>
        </p:spPr>
      </p:pic>
      <p:sp>
        <p:nvSpPr>
          <p:cNvPr id="7" name="Text 3"/>
          <p:cNvSpPr/>
          <p:nvPr/>
        </p:nvSpPr>
        <p:spPr>
          <a:xfrm>
            <a:off x="457200" y="1554480"/>
            <a:ext cx="2560320" cy="457200"/>
          </a:xfrm>
          <a:prstGeom prst="rect">
            <a:avLst/>
          </a:prstGeom>
          <a:noFill/>
          <a:ln/>
        </p:spPr>
        <p:txBody>
          <a:bodyPr wrap="square" lIns="0" tIns="0" rIns="0" bIns="0" rtlCol="0" anchor="ctr"/>
          <a:lstStyle/>
          <a:p>
            <a:pPr algn="ctr" indent="0" marL="0">
              <a:buNone/>
            </a:pPr>
            <a:r>
              <a:rPr lang="en-US" sz="3000" b="1" dirty="0">
                <a:solidFill>
                  <a:srgbClr val="0D9488"/>
                </a:solidFill>
                <a:latin typeface="Trebuchet MS" pitchFamily="34" charset="0"/>
                <a:ea typeface="Trebuchet MS" pitchFamily="34" charset="-122"/>
                <a:cs typeface="Trebuchet MS" pitchFamily="34" charset="-120"/>
              </a:rPr>
              <a:t>2,000+</a:t>
            </a:r>
            <a:endParaRPr lang="en-US" sz="3000" dirty="0"/>
          </a:p>
        </p:txBody>
      </p:sp>
      <p:sp>
        <p:nvSpPr>
          <p:cNvPr id="8" name="Text 4"/>
          <p:cNvSpPr/>
          <p:nvPr/>
        </p:nvSpPr>
        <p:spPr>
          <a:xfrm>
            <a:off x="457200" y="2011680"/>
            <a:ext cx="2560320" cy="457200"/>
          </a:xfrm>
          <a:prstGeom prst="rect">
            <a:avLst/>
          </a:prstGeom>
          <a:noFill/>
          <a:ln/>
        </p:spPr>
        <p:txBody>
          <a:bodyPr wrap="square" lIns="0" tIns="0" rIns="0" bIns="0" rtlCol="0" anchor="ctr"/>
          <a:lstStyle/>
          <a:p>
            <a:pPr algn="ctr" indent="0" marL="0">
              <a:buNone/>
            </a:pPr>
            <a:r>
              <a:rPr lang="en-US" sz="1100" dirty="0">
                <a:solidFill>
                  <a:srgbClr val="334155"/>
                </a:solidFill>
                <a:latin typeface="Calibri" pitchFamily="34" charset="0"/>
                <a:ea typeface="Calibri" pitchFamily="34" charset="-122"/>
                <a:cs typeface="Calibri" pitchFamily="34" charset="-120"/>
              </a:rPr>
              <a:t>Households served</a:t>
            </a:r>
            <a:endParaRPr lang="en-US" sz="1100" dirty="0"/>
          </a:p>
          <a:p>
            <a:pPr algn="ctr" indent="0" marL="0">
              <a:buNone/>
            </a:pPr>
            <a:r>
              <a:rPr lang="en-US" sz="1100" dirty="0">
                <a:solidFill>
                  <a:srgbClr val="334155"/>
                </a:solidFill>
                <a:latin typeface="Calibri" pitchFamily="34" charset="0"/>
                <a:ea typeface="Calibri" pitchFamily="34" charset="-122"/>
                <a:cs typeface="Calibri" pitchFamily="34" charset="-120"/>
              </a:rPr>
              <a:t>in priority ZIPs</a:t>
            </a:r>
            <a:endParaRPr lang="en-US" sz="1100" dirty="0"/>
          </a:p>
        </p:txBody>
      </p:sp>
      <p:sp>
        <p:nvSpPr>
          <p:cNvPr id="9" name="Shape 5"/>
          <p:cNvSpPr/>
          <p:nvPr/>
        </p:nvSpPr>
        <p:spPr>
          <a:xfrm>
            <a:off x="3291840" y="1005840"/>
            <a:ext cx="2560320" cy="1554480"/>
          </a:xfrm>
          <a:prstGeom prst="rect">
            <a:avLst/>
          </a:prstGeom>
          <a:solidFill>
            <a:srgbClr val="FFFFFF"/>
          </a:solidFill>
          <a:ln/>
          <a:effectLst>
            <a:outerShdw sx="100000" sy="100000" kx="0" ky="0" algn="bl" rotWithShape="0" blurRad="76200" dist="25400" dir="8100000">
              <a:srgbClr val="000000">
                <a:alpha val="10000"/>
              </a:srgbClr>
            </a:outerShdw>
          </a:effectLst>
        </p:spPr>
      </p:sp>
      <p:pic>
        <p:nvPicPr>
          <p:cNvPr id="10" name="Image 2" descr="preencoded.png">    </p:cNvPr>
          <p:cNvPicPr>
            <a:picLocks noChangeAspect="1"/>
          </p:cNvPicPr>
          <p:nvPr/>
        </p:nvPicPr>
        <p:blipFill>
          <a:blip r:embed="rId3"/>
          <a:stretch>
            <a:fillRect/>
          </a:stretch>
        </p:blipFill>
        <p:spPr>
          <a:xfrm>
            <a:off x="3474720" y="1188720"/>
            <a:ext cx="320040" cy="320040"/>
          </a:xfrm>
          <a:prstGeom prst="rect">
            <a:avLst/>
          </a:prstGeom>
        </p:spPr>
      </p:pic>
      <p:sp>
        <p:nvSpPr>
          <p:cNvPr id="11" name="Text 6"/>
          <p:cNvSpPr/>
          <p:nvPr/>
        </p:nvSpPr>
        <p:spPr>
          <a:xfrm>
            <a:off x="3291840" y="1554480"/>
            <a:ext cx="2560320" cy="457200"/>
          </a:xfrm>
          <a:prstGeom prst="rect">
            <a:avLst/>
          </a:prstGeom>
          <a:noFill/>
          <a:ln/>
        </p:spPr>
        <p:txBody>
          <a:bodyPr wrap="square" lIns="0" tIns="0" rIns="0" bIns="0" rtlCol="0" anchor="ctr"/>
          <a:lstStyle/>
          <a:p>
            <a:pPr algn="ctr" indent="0" marL="0">
              <a:buNone/>
            </a:pPr>
            <a:r>
              <a:rPr lang="en-US" sz="3000" b="1" dirty="0">
                <a:solidFill>
                  <a:srgbClr val="0D9488"/>
                </a:solidFill>
                <a:latin typeface="Trebuchet MS" pitchFamily="34" charset="0"/>
                <a:ea typeface="Trebuchet MS" pitchFamily="34" charset="-122"/>
                <a:cs typeface="Trebuchet MS" pitchFamily="34" charset="-120"/>
              </a:rPr>
              <a:t>&lt; 0.5 mi</a:t>
            </a:r>
            <a:endParaRPr lang="en-US" sz="3000" dirty="0"/>
          </a:p>
        </p:txBody>
      </p:sp>
      <p:sp>
        <p:nvSpPr>
          <p:cNvPr id="12" name="Text 7"/>
          <p:cNvSpPr/>
          <p:nvPr/>
        </p:nvSpPr>
        <p:spPr>
          <a:xfrm>
            <a:off x="3291840" y="2011680"/>
            <a:ext cx="2560320" cy="457200"/>
          </a:xfrm>
          <a:prstGeom prst="rect">
            <a:avLst/>
          </a:prstGeom>
          <a:noFill/>
          <a:ln/>
        </p:spPr>
        <p:txBody>
          <a:bodyPr wrap="square" lIns="0" tIns="0" rIns="0" bIns="0" rtlCol="0" anchor="ctr"/>
          <a:lstStyle/>
          <a:p>
            <a:pPr algn="ctr" indent="0" marL="0">
              <a:buNone/>
            </a:pPr>
            <a:r>
              <a:rPr lang="en-US" sz="1100" dirty="0">
                <a:solidFill>
                  <a:srgbClr val="334155"/>
                </a:solidFill>
                <a:latin typeface="Calibri" pitchFamily="34" charset="0"/>
                <a:ea typeface="Calibri" pitchFamily="34" charset="-122"/>
                <a:cs typeface="Calibri" pitchFamily="34" charset="-120"/>
              </a:rPr>
              <a:t>Avg distance from</a:t>
            </a:r>
            <a:endParaRPr lang="en-US" sz="1100" dirty="0"/>
          </a:p>
          <a:p>
            <a:pPr algn="ctr" indent="0" marL="0">
              <a:buNone/>
            </a:pPr>
            <a:r>
              <a:rPr lang="en-US" sz="1100" dirty="0">
                <a:solidFill>
                  <a:srgbClr val="334155"/>
                </a:solidFill>
                <a:latin typeface="Calibri" pitchFamily="34" charset="0"/>
                <a:ea typeface="Calibri" pitchFamily="34" charset="-122"/>
                <a:cs typeface="Calibri" pitchFamily="34" charset="-120"/>
              </a:rPr>
              <a:t>stop to door</a:t>
            </a:r>
            <a:endParaRPr lang="en-US" sz="1100" dirty="0"/>
          </a:p>
        </p:txBody>
      </p:sp>
      <p:sp>
        <p:nvSpPr>
          <p:cNvPr id="13" name="Shape 8"/>
          <p:cNvSpPr/>
          <p:nvPr/>
        </p:nvSpPr>
        <p:spPr>
          <a:xfrm>
            <a:off x="6126480" y="1005840"/>
            <a:ext cx="2560320" cy="1554480"/>
          </a:xfrm>
          <a:prstGeom prst="rect">
            <a:avLst/>
          </a:prstGeom>
          <a:solidFill>
            <a:srgbClr val="FFFFFF"/>
          </a:solidFill>
          <a:ln/>
          <a:effectLst>
            <a:outerShdw sx="100000" sy="100000" kx="0" ky="0" algn="bl" rotWithShape="0" blurRad="76200" dist="25400" dir="8100000">
              <a:srgbClr val="000000">
                <a:alpha val="10000"/>
              </a:srgbClr>
            </a:outerShdw>
          </a:effectLst>
        </p:spPr>
      </p:sp>
      <p:pic>
        <p:nvPicPr>
          <p:cNvPr id="14" name="Image 3" descr="preencoded.png">    </p:cNvPr>
          <p:cNvPicPr>
            <a:picLocks noChangeAspect="1"/>
          </p:cNvPicPr>
          <p:nvPr/>
        </p:nvPicPr>
        <p:blipFill>
          <a:blip r:embed="rId4"/>
          <a:stretch>
            <a:fillRect/>
          </a:stretch>
        </p:blipFill>
        <p:spPr>
          <a:xfrm>
            <a:off x="6309360" y="1188720"/>
            <a:ext cx="320040" cy="320040"/>
          </a:xfrm>
          <a:prstGeom prst="rect">
            <a:avLst/>
          </a:prstGeom>
        </p:spPr>
      </p:pic>
      <p:sp>
        <p:nvSpPr>
          <p:cNvPr id="15" name="Text 9"/>
          <p:cNvSpPr/>
          <p:nvPr/>
        </p:nvSpPr>
        <p:spPr>
          <a:xfrm>
            <a:off x="6126480" y="1554480"/>
            <a:ext cx="2560320" cy="457200"/>
          </a:xfrm>
          <a:prstGeom prst="rect">
            <a:avLst/>
          </a:prstGeom>
          <a:noFill/>
          <a:ln/>
        </p:spPr>
        <p:txBody>
          <a:bodyPr wrap="square" lIns="0" tIns="0" rIns="0" bIns="0" rtlCol="0" anchor="ctr"/>
          <a:lstStyle/>
          <a:p>
            <a:pPr algn="ctr" indent="0" marL="0">
              <a:buNone/>
            </a:pPr>
            <a:r>
              <a:rPr lang="en-US" sz="3000" b="1" dirty="0">
                <a:solidFill>
                  <a:srgbClr val="0D9488"/>
                </a:solidFill>
                <a:latin typeface="Trebuchet MS" pitchFamily="34" charset="0"/>
                <a:ea typeface="Trebuchet MS" pitchFamily="34" charset="-122"/>
                <a:cs typeface="Trebuchet MS" pitchFamily="34" charset="-120"/>
              </a:rPr>
              <a:t>50+</a:t>
            </a:r>
            <a:endParaRPr lang="en-US" sz="3000" dirty="0"/>
          </a:p>
        </p:txBody>
      </p:sp>
      <p:sp>
        <p:nvSpPr>
          <p:cNvPr id="16" name="Text 10"/>
          <p:cNvSpPr/>
          <p:nvPr/>
        </p:nvSpPr>
        <p:spPr>
          <a:xfrm>
            <a:off x="6126480" y="2011680"/>
            <a:ext cx="2560320" cy="457200"/>
          </a:xfrm>
          <a:prstGeom prst="rect">
            <a:avLst/>
          </a:prstGeom>
          <a:noFill/>
          <a:ln/>
        </p:spPr>
        <p:txBody>
          <a:bodyPr wrap="square" lIns="0" tIns="0" rIns="0" bIns="0" rtlCol="0" anchor="ctr"/>
          <a:lstStyle/>
          <a:p>
            <a:pPr algn="ctr" indent="0" marL="0">
              <a:buNone/>
            </a:pPr>
            <a:r>
              <a:rPr lang="en-US" sz="1100" dirty="0">
                <a:solidFill>
                  <a:srgbClr val="334155"/>
                </a:solidFill>
                <a:latin typeface="Calibri" pitchFamily="34" charset="0"/>
                <a:ea typeface="Calibri" pitchFamily="34" charset="-122"/>
                <a:cs typeface="Calibri" pitchFamily="34" charset="-120"/>
              </a:rPr>
              <a:t>Active volunteer</a:t>
            </a:r>
            <a:endParaRPr lang="en-US" sz="1100" dirty="0"/>
          </a:p>
          <a:p>
            <a:pPr algn="ctr" indent="0" marL="0">
              <a:buNone/>
            </a:pPr>
            <a:r>
              <a:rPr lang="en-US" sz="1100" dirty="0">
                <a:solidFill>
                  <a:srgbClr val="334155"/>
                </a:solidFill>
                <a:latin typeface="Calibri" pitchFamily="34" charset="0"/>
                <a:ea typeface="Calibri" pitchFamily="34" charset="-122"/>
                <a:cs typeface="Calibri" pitchFamily="34" charset="-120"/>
              </a:rPr>
              <a:t>teams</a:t>
            </a:r>
            <a:endParaRPr lang="en-US" sz="1100" dirty="0"/>
          </a:p>
        </p:txBody>
      </p:sp>
      <p:sp>
        <p:nvSpPr>
          <p:cNvPr id="17" name="Shape 11"/>
          <p:cNvSpPr/>
          <p:nvPr/>
        </p:nvSpPr>
        <p:spPr>
          <a:xfrm>
            <a:off x="457200" y="2834640"/>
            <a:ext cx="2560320" cy="1554480"/>
          </a:xfrm>
          <a:prstGeom prst="rect">
            <a:avLst/>
          </a:prstGeom>
          <a:solidFill>
            <a:srgbClr val="FFFFFF"/>
          </a:solidFill>
          <a:ln/>
          <a:effectLst>
            <a:outerShdw sx="100000" sy="100000" kx="0" ky="0" algn="bl" rotWithShape="0" blurRad="76200" dist="25400" dir="8100000">
              <a:srgbClr val="000000">
                <a:alpha val="10000"/>
              </a:srgbClr>
            </a:outerShdw>
          </a:effectLst>
        </p:spPr>
      </p:sp>
      <p:pic>
        <p:nvPicPr>
          <p:cNvPr id="18" name="Image 4" descr="preencoded.png">    </p:cNvPr>
          <p:cNvPicPr>
            <a:picLocks noChangeAspect="1"/>
          </p:cNvPicPr>
          <p:nvPr/>
        </p:nvPicPr>
        <p:blipFill>
          <a:blip r:embed="rId5"/>
          <a:stretch>
            <a:fillRect/>
          </a:stretch>
        </p:blipFill>
        <p:spPr>
          <a:xfrm>
            <a:off x="640080" y="3017520"/>
            <a:ext cx="320040" cy="320040"/>
          </a:xfrm>
          <a:prstGeom prst="rect">
            <a:avLst/>
          </a:prstGeom>
        </p:spPr>
      </p:pic>
      <p:sp>
        <p:nvSpPr>
          <p:cNvPr id="19" name="Text 12"/>
          <p:cNvSpPr/>
          <p:nvPr/>
        </p:nvSpPr>
        <p:spPr>
          <a:xfrm>
            <a:off x="457200" y="3383280"/>
            <a:ext cx="2560320" cy="457200"/>
          </a:xfrm>
          <a:prstGeom prst="rect">
            <a:avLst/>
          </a:prstGeom>
          <a:noFill/>
          <a:ln/>
        </p:spPr>
        <p:txBody>
          <a:bodyPr wrap="square" lIns="0" tIns="0" rIns="0" bIns="0" rtlCol="0" anchor="ctr"/>
          <a:lstStyle/>
          <a:p>
            <a:pPr algn="ctr" indent="0" marL="0">
              <a:buNone/>
            </a:pPr>
            <a:r>
              <a:rPr lang="en-US" sz="3000" b="1" dirty="0">
                <a:solidFill>
                  <a:srgbClr val="0D9488"/>
                </a:solidFill>
                <a:latin typeface="Trebuchet MS" pitchFamily="34" charset="0"/>
                <a:ea typeface="Trebuchet MS" pitchFamily="34" charset="-122"/>
                <a:cs typeface="Trebuchet MS" pitchFamily="34" charset="-120"/>
              </a:rPr>
              <a:t>$4.17</a:t>
            </a:r>
            <a:endParaRPr lang="en-US" sz="3000" dirty="0"/>
          </a:p>
        </p:txBody>
      </p:sp>
      <p:sp>
        <p:nvSpPr>
          <p:cNvPr id="20" name="Text 13"/>
          <p:cNvSpPr/>
          <p:nvPr/>
        </p:nvSpPr>
        <p:spPr>
          <a:xfrm>
            <a:off x="457200" y="3840480"/>
            <a:ext cx="2560320" cy="457200"/>
          </a:xfrm>
          <a:prstGeom prst="rect">
            <a:avLst/>
          </a:prstGeom>
          <a:noFill/>
          <a:ln/>
        </p:spPr>
        <p:txBody>
          <a:bodyPr wrap="square" lIns="0" tIns="0" rIns="0" bIns="0" rtlCol="0" anchor="ctr"/>
          <a:lstStyle/>
          <a:p>
            <a:pPr algn="ctr" indent="0" marL="0">
              <a:buNone/>
            </a:pPr>
            <a:r>
              <a:rPr lang="en-US" sz="1100" dirty="0">
                <a:solidFill>
                  <a:srgbClr val="334155"/>
                </a:solidFill>
                <a:latin typeface="Calibri" pitchFamily="34" charset="0"/>
                <a:ea typeface="Calibri" pitchFamily="34" charset="-122"/>
                <a:cs typeface="Calibri" pitchFamily="34" charset="-120"/>
              </a:rPr>
              <a:t>Cost per household</a:t>
            </a:r>
            <a:endParaRPr lang="en-US" sz="1100" dirty="0"/>
          </a:p>
          <a:p>
            <a:pPr algn="ctr" indent="0" marL="0">
              <a:buNone/>
            </a:pPr>
            <a:r>
              <a:rPr lang="en-US" sz="1100" dirty="0">
                <a:solidFill>
                  <a:srgbClr val="334155"/>
                </a:solidFill>
                <a:latin typeface="Calibri" pitchFamily="34" charset="0"/>
                <a:ea typeface="Calibri" pitchFamily="34" charset="-122"/>
                <a:cs typeface="Calibri" pitchFamily="34" charset="-120"/>
              </a:rPr>
              <a:t>per week</a:t>
            </a:r>
            <a:endParaRPr lang="en-US" sz="1100" dirty="0"/>
          </a:p>
        </p:txBody>
      </p:sp>
      <p:sp>
        <p:nvSpPr>
          <p:cNvPr id="21" name="Shape 14"/>
          <p:cNvSpPr/>
          <p:nvPr/>
        </p:nvSpPr>
        <p:spPr>
          <a:xfrm>
            <a:off x="3291840" y="2834640"/>
            <a:ext cx="2560320" cy="1554480"/>
          </a:xfrm>
          <a:prstGeom prst="rect">
            <a:avLst/>
          </a:prstGeom>
          <a:solidFill>
            <a:srgbClr val="FFFFFF"/>
          </a:solidFill>
          <a:ln/>
          <a:effectLst>
            <a:outerShdw sx="100000" sy="100000" kx="0" ky="0" algn="bl" rotWithShape="0" blurRad="76200" dist="25400" dir="8100000">
              <a:srgbClr val="000000">
                <a:alpha val="10000"/>
              </a:srgbClr>
            </a:outerShdw>
          </a:effectLst>
        </p:spPr>
      </p:sp>
      <p:pic>
        <p:nvPicPr>
          <p:cNvPr id="22" name="Image 5" descr="preencoded.png">    </p:cNvPr>
          <p:cNvPicPr>
            <a:picLocks noChangeAspect="1"/>
          </p:cNvPicPr>
          <p:nvPr/>
        </p:nvPicPr>
        <p:blipFill>
          <a:blip r:embed="rId6"/>
          <a:stretch>
            <a:fillRect/>
          </a:stretch>
        </p:blipFill>
        <p:spPr>
          <a:xfrm>
            <a:off x="3474720" y="3017520"/>
            <a:ext cx="320040" cy="320040"/>
          </a:xfrm>
          <a:prstGeom prst="rect">
            <a:avLst/>
          </a:prstGeom>
        </p:spPr>
      </p:pic>
      <p:sp>
        <p:nvSpPr>
          <p:cNvPr id="23" name="Text 15"/>
          <p:cNvSpPr/>
          <p:nvPr/>
        </p:nvSpPr>
        <p:spPr>
          <a:xfrm>
            <a:off x="3291840" y="3383280"/>
            <a:ext cx="2560320" cy="457200"/>
          </a:xfrm>
          <a:prstGeom prst="rect">
            <a:avLst/>
          </a:prstGeom>
          <a:noFill/>
          <a:ln/>
        </p:spPr>
        <p:txBody>
          <a:bodyPr wrap="square" lIns="0" tIns="0" rIns="0" bIns="0" rtlCol="0" anchor="ctr"/>
          <a:lstStyle/>
          <a:p>
            <a:pPr algn="ctr" indent="0" marL="0">
              <a:buNone/>
            </a:pPr>
            <a:r>
              <a:rPr lang="en-US" sz="3000" b="1" dirty="0">
                <a:solidFill>
                  <a:srgbClr val="0D9488"/>
                </a:solidFill>
                <a:latin typeface="Trebuchet MS" pitchFamily="34" charset="0"/>
                <a:ea typeface="Trebuchet MS" pitchFamily="34" charset="-122"/>
                <a:cs typeface="Trebuchet MS" pitchFamily="34" charset="-120"/>
              </a:rPr>
              <a:t>40,000+</a:t>
            </a:r>
            <a:endParaRPr lang="en-US" sz="3000" dirty="0"/>
          </a:p>
        </p:txBody>
      </p:sp>
      <p:sp>
        <p:nvSpPr>
          <p:cNvPr id="24" name="Text 16"/>
          <p:cNvSpPr/>
          <p:nvPr/>
        </p:nvSpPr>
        <p:spPr>
          <a:xfrm>
            <a:off x="3291840" y="3840480"/>
            <a:ext cx="2560320" cy="457200"/>
          </a:xfrm>
          <a:prstGeom prst="rect">
            <a:avLst/>
          </a:prstGeom>
          <a:noFill/>
          <a:ln/>
        </p:spPr>
        <p:txBody>
          <a:bodyPr wrap="square" lIns="0" tIns="0" rIns="0" bIns="0" rtlCol="0" anchor="ctr"/>
          <a:lstStyle/>
          <a:p>
            <a:pPr algn="ctr" indent="0" marL="0">
              <a:buNone/>
            </a:pPr>
            <a:r>
              <a:rPr lang="en-US" sz="1100" dirty="0">
                <a:solidFill>
                  <a:srgbClr val="334155"/>
                </a:solidFill>
                <a:latin typeface="Calibri" pitchFamily="34" charset="0"/>
                <a:ea typeface="Calibri" pitchFamily="34" charset="-122"/>
                <a:cs typeface="Calibri" pitchFamily="34" charset="-120"/>
              </a:rPr>
              <a:t>Lbs of food</a:t>
            </a:r>
            <a:endParaRPr lang="en-US" sz="1100" dirty="0"/>
          </a:p>
          <a:p>
            <a:pPr algn="ctr" indent="0" marL="0">
              <a:buNone/>
            </a:pPr>
            <a:r>
              <a:rPr lang="en-US" sz="1100" dirty="0">
                <a:solidFill>
                  <a:srgbClr val="334155"/>
                </a:solidFill>
                <a:latin typeface="Calibri" pitchFamily="34" charset="0"/>
                <a:ea typeface="Calibri" pitchFamily="34" charset="-122"/>
                <a:cs typeface="Calibri" pitchFamily="34" charset="-120"/>
              </a:rPr>
              <a:t>distributed</a:t>
            </a:r>
            <a:endParaRPr lang="en-US" sz="1100" dirty="0"/>
          </a:p>
        </p:txBody>
      </p:sp>
      <p:sp>
        <p:nvSpPr>
          <p:cNvPr id="25" name="Shape 17"/>
          <p:cNvSpPr/>
          <p:nvPr/>
        </p:nvSpPr>
        <p:spPr>
          <a:xfrm>
            <a:off x="6126480" y="2834640"/>
            <a:ext cx="2560320" cy="1554480"/>
          </a:xfrm>
          <a:prstGeom prst="rect">
            <a:avLst/>
          </a:prstGeom>
          <a:solidFill>
            <a:srgbClr val="FFFFFF"/>
          </a:solidFill>
          <a:ln/>
          <a:effectLst>
            <a:outerShdw sx="100000" sy="100000" kx="0" ky="0" algn="bl" rotWithShape="0" blurRad="76200" dist="25400" dir="8100000">
              <a:srgbClr val="000000">
                <a:alpha val="10000"/>
              </a:srgbClr>
            </a:outerShdw>
          </a:effectLst>
        </p:spPr>
      </p:sp>
      <p:pic>
        <p:nvPicPr>
          <p:cNvPr id="26" name="Image 6" descr="preencoded.png">    </p:cNvPr>
          <p:cNvPicPr>
            <a:picLocks noChangeAspect="1"/>
          </p:cNvPicPr>
          <p:nvPr/>
        </p:nvPicPr>
        <p:blipFill>
          <a:blip r:embed="rId7"/>
          <a:stretch>
            <a:fillRect/>
          </a:stretch>
        </p:blipFill>
        <p:spPr>
          <a:xfrm>
            <a:off x="6309360" y="3017520"/>
            <a:ext cx="320040" cy="320040"/>
          </a:xfrm>
          <a:prstGeom prst="rect">
            <a:avLst/>
          </a:prstGeom>
        </p:spPr>
      </p:pic>
      <p:sp>
        <p:nvSpPr>
          <p:cNvPr id="27" name="Text 18"/>
          <p:cNvSpPr/>
          <p:nvPr/>
        </p:nvSpPr>
        <p:spPr>
          <a:xfrm>
            <a:off x="6126480" y="3383280"/>
            <a:ext cx="2560320" cy="457200"/>
          </a:xfrm>
          <a:prstGeom prst="rect">
            <a:avLst/>
          </a:prstGeom>
          <a:noFill/>
          <a:ln/>
        </p:spPr>
        <p:txBody>
          <a:bodyPr wrap="square" lIns="0" tIns="0" rIns="0" bIns="0" rtlCol="0" anchor="ctr"/>
          <a:lstStyle/>
          <a:p>
            <a:pPr algn="ctr" indent="0" marL="0">
              <a:buNone/>
            </a:pPr>
            <a:r>
              <a:rPr lang="en-US" sz="3000" b="1" dirty="0">
                <a:solidFill>
                  <a:srgbClr val="0D9488"/>
                </a:solidFill>
                <a:latin typeface="Trebuchet MS" pitchFamily="34" charset="0"/>
                <a:ea typeface="Trebuchet MS" pitchFamily="34" charset="-122"/>
                <a:cs typeface="Trebuchet MS" pitchFamily="34" charset="-120"/>
              </a:rPr>
              <a:t>4</a:t>
            </a:r>
            <a:endParaRPr lang="en-US" sz="3000" dirty="0"/>
          </a:p>
        </p:txBody>
      </p:sp>
      <p:sp>
        <p:nvSpPr>
          <p:cNvPr id="28" name="Text 19"/>
          <p:cNvSpPr/>
          <p:nvPr/>
        </p:nvSpPr>
        <p:spPr>
          <a:xfrm>
            <a:off x="6126480" y="3840480"/>
            <a:ext cx="2560320" cy="457200"/>
          </a:xfrm>
          <a:prstGeom prst="rect">
            <a:avLst/>
          </a:prstGeom>
          <a:noFill/>
          <a:ln/>
        </p:spPr>
        <p:txBody>
          <a:bodyPr wrap="square" lIns="0" tIns="0" rIns="0" bIns="0" rtlCol="0" anchor="ctr"/>
          <a:lstStyle/>
          <a:p>
            <a:pPr algn="ctr" indent="0" marL="0">
              <a:buNone/>
            </a:pPr>
            <a:r>
              <a:rPr lang="en-US" sz="1100" dirty="0">
                <a:solidFill>
                  <a:srgbClr val="334155"/>
                </a:solidFill>
                <a:latin typeface="Calibri" pitchFamily="34" charset="0"/>
                <a:ea typeface="Calibri" pitchFamily="34" charset="-122"/>
                <a:cs typeface="Calibri" pitchFamily="34" charset="-120"/>
              </a:rPr>
              <a:t>Streetcar hub stops</a:t>
            </a:r>
            <a:endParaRPr lang="en-US" sz="1100" dirty="0"/>
          </a:p>
          <a:p>
            <a:pPr algn="ctr" indent="0" marL="0">
              <a:buNone/>
            </a:pPr>
            <a:r>
              <a:rPr lang="en-US" sz="1100" dirty="0">
                <a:solidFill>
                  <a:srgbClr val="334155"/>
                </a:solidFill>
                <a:latin typeface="Calibri" pitchFamily="34" charset="0"/>
                <a:ea typeface="Calibri" pitchFamily="34" charset="-122"/>
                <a:cs typeface="Calibri" pitchFamily="34" charset="-120"/>
              </a:rPr>
              <a:t>activated</a:t>
            </a:r>
            <a:endParaRPr lang="en-US" sz="1100" dirty="0"/>
          </a:p>
        </p:txBody>
      </p:sp>
      <p:sp>
        <p:nvSpPr>
          <p:cNvPr id="29" name="Shape 20"/>
          <p:cNvSpPr/>
          <p:nvPr/>
        </p:nvSpPr>
        <p:spPr>
          <a:xfrm>
            <a:off x="457200" y="4572000"/>
            <a:ext cx="8229600" cy="365760"/>
          </a:xfrm>
          <a:prstGeom prst="rect">
            <a:avLst/>
          </a:prstGeom>
          <a:solidFill>
            <a:srgbClr val="1B2A4A"/>
          </a:solidFill>
          <a:ln/>
        </p:spPr>
      </p:sp>
      <p:sp>
        <p:nvSpPr>
          <p:cNvPr id="30" name="Text 21"/>
          <p:cNvSpPr/>
          <p:nvPr/>
        </p:nvSpPr>
        <p:spPr>
          <a:xfrm>
            <a:off x="457200" y="4572000"/>
            <a:ext cx="8229600" cy="36576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$500K contract / 2,000 households / 8 weeks = $31.25 per household for the full pilot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pic>
        <p:nvPicPr>
          <p:cNvPr id="3" name="Image 0" descr="preencoded.png">    </p:cNvPr>
          <p:cNvPicPr>
            <a:picLocks noChangeAspect="1"/>
          </p:cNvPicPr>
          <p:nvPr/>
        </p:nvPicPr>
        <p:blipFill>
          <a:blip r:embed="rId1"/>
          <a:stretch>
            <a:fillRect/>
          </a:stretch>
        </p:blipFill>
        <p:spPr>
          <a:xfrm>
            <a:off x="548640" y="320040"/>
            <a:ext cx="320040" cy="320040"/>
          </a:xfrm>
          <a:prstGeom prst="rect">
            <a:avLst/>
          </a:prstGeom>
        </p:spPr>
      </p:pic>
      <p:sp>
        <p:nvSpPr>
          <p:cNvPr id="4" name="Text 1"/>
          <p:cNvSpPr/>
          <p:nvPr/>
        </p:nvSpPr>
        <p:spPr>
          <a:xfrm>
            <a:off x="960120" y="228600"/>
            <a:ext cx="7315200" cy="548640"/>
          </a:xfrm>
          <a:prstGeom prst="rect">
            <a:avLst/>
          </a:prstGeom>
          <a:noFill/>
          <a:ln/>
        </p:spPr>
        <p:txBody>
          <a:bodyPr wrap="square" lIns="0" tIns="0" rIns="0" bIns="0" rtlCol="0" anchor="ctr"/>
          <a:lstStyle/>
          <a:p>
            <a:pPr indent="0" marL="0">
              <a:buNone/>
            </a:pPr>
            <a:r>
              <a:rPr lang="en-US" sz="2800" b="1" dirty="0">
                <a:solidFill>
                  <a:srgbClr val="1B2A4A"/>
                </a:solidFill>
                <a:latin typeface="Trebuchet MS" pitchFamily="34" charset="0"/>
                <a:ea typeface="Trebuchet MS" pitchFamily="34" charset="-122"/>
                <a:cs typeface="Trebuchet MS" pitchFamily="34" charset="-120"/>
              </a:rPr>
              <a:t>Why StreetCart wins</a:t>
            </a:r>
            <a:endParaRPr lang="en-US" sz="2800" dirty="0"/>
          </a:p>
        </p:txBody>
      </p:sp>
      <p:pic>
        <p:nvPicPr>
          <p:cNvPr id="5" name="Image 1" descr="preencoded.png">    </p:cNvPr>
          <p:cNvPicPr>
            <a:picLocks noChangeAspect="1"/>
          </p:cNvPicPr>
          <p:nvPr/>
        </p:nvPicPr>
        <p:blipFill>
          <a:blip r:embed="rId2"/>
          <a:stretch>
            <a:fillRect/>
          </a:stretch>
        </p:blipFill>
        <p:spPr>
          <a:xfrm>
            <a:off x="548640" y="960120"/>
            <a:ext cx="274320" cy="274320"/>
          </a:xfrm>
          <a:prstGeom prst="rect">
            <a:avLst/>
          </a:prstGeom>
        </p:spPr>
      </p:pic>
      <p:sp>
        <p:nvSpPr>
          <p:cNvPr id="6" name="Text 2"/>
          <p:cNvSpPr/>
          <p:nvPr/>
        </p:nvSpPr>
        <p:spPr>
          <a:xfrm>
            <a:off x="1005840" y="914400"/>
            <a:ext cx="2743200" cy="320040"/>
          </a:xfrm>
          <a:prstGeom prst="rect">
            <a:avLst/>
          </a:prstGeom>
          <a:noFill/>
          <a:ln/>
        </p:spPr>
        <p:txBody>
          <a:bodyPr wrap="square" lIns="0" tIns="0" rIns="0" bIns="0" rtlCol="0" anchor="ctr"/>
          <a:lstStyle/>
          <a:p>
            <a:pPr indent="0" marL="0">
              <a:buNone/>
            </a:pPr>
            <a:r>
              <a:rPr lang="en-US" sz="1500" b="1" dirty="0">
                <a:solidFill>
                  <a:srgbClr val="1B2A4A"/>
                </a:solidFill>
                <a:latin typeface="Trebuchet MS" pitchFamily="34" charset="0"/>
                <a:ea typeface="Trebuchet MS" pitchFamily="34" charset="-122"/>
                <a:cs typeface="Trebuchet MS" pitchFamily="34" charset="-120"/>
              </a:rPr>
              <a:t>Uses existing infrastructure</a:t>
            </a:r>
            <a:endParaRPr lang="en-US" sz="1500" dirty="0"/>
          </a:p>
        </p:txBody>
      </p:sp>
      <p:sp>
        <p:nvSpPr>
          <p:cNvPr id="7" name="Text 3"/>
          <p:cNvSpPr/>
          <p:nvPr/>
        </p:nvSpPr>
        <p:spPr>
          <a:xfrm>
            <a:off x="1005840" y="1234440"/>
            <a:ext cx="7680960" cy="4114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The streetcar already runs from Whole Foods to the River Market. We add food distribution to an asset the city already funds. No new fleet, no new routes, no new capital spend.</a:t>
            </a:r>
            <a:endParaRPr lang="en-US" sz="1100" dirty="0"/>
          </a:p>
        </p:txBody>
      </p:sp>
      <p:pic>
        <p:nvPicPr>
          <p:cNvPr id="8" name="Image 2" descr="preencoded.png">    </p:cNvPr>
          <p:cNvPicPr>
            <a:picLocks noChangeAspect="1"/>
          </p:cNvPicPr>
          <p:nvPr/>
        </p:nvPicPr>
        <p:blipFill>
          <a:blip r:embed="rId3"/>
          <a:stretch>
            <a:fillRect/>
          </a:stretch>
        </p:blipFill>
        <p:spPr>
          <a:xfrm>
            <a:off x="548640" y="1764792"/>
            <a:ext cx="274320" cy="274320"/>
          </a:xfrm>
          <a:prstGeom prst="rect">
            <a:avLst/>
          </a:prstGeom>
        </p:spPr>
      </p:pic>
      <p:sp>
        <p:nvSpPr>
          <p:cNvPr id="9" name="Text 4"/>
          <p:cNvSpPr/>
          <p:nvPr/>
        </p:nvSpPr>
        <p:spPr>
          <a:xfrm>
            <a:off x="1005840" y="1719072"/>
            <a:ext cx="2743200" cy="320040"/>
          </a:xfrm>
          <a:prstGeom prst="rect">
            <a:avLst/>
          </a:prstGeom>
          <a:noFill/>
          <a:ln/>
        </p:spPr>
        <p:txBody>
          <a:bodyPr wrap="square" lIns="0" tIns="0" rIns="0" bIns="0" rtlCol="0" anchor="ctr"/>
          <a:lstStyle/>
          <a:p>
            <a:pPr indent="0" marL="0">
              <a:buNone/>
            </a:pPr>
            <a:r>
              <a:rPr lang="en-US" sz="1500" b="1" dirty="0">
                <a:solidFill>
                  <a:srgbClr val="1B2A4A"/>
                </a:solidFill>
                <a:latin typeface="Trebuchet MS" pitchFamily="34" charset="0"/>
                <a:ea typeface="Trebuchet MS" pitchFamily="34" charset="-122"/>
                <a:cs typeface="Trebuchet MS" pitchFamily="34" charset="-120"/>
              </a:rPr>
              <a:t>Solves the volunteer problem</a:t>
            </a:r>
            <a:endParaRPr lang="en-US" sz="1500" dirty="0"/>
          </a:p>
        </p:txBody>
      </p:sp>
      <p:sp>
        <p:nvSpPr>
          <p:cNvPr id="10" name="Text 5"/>
          <p:cNvSpPr/>
          <p:nvPr/>
        </p:nvSpPr>
        <p:spPr>
          <a:xfrm>
            <a:off x="1005840" y="2039112"/>
            <a:ext cx="7680960" cy="4114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Most food programs struggle to retain volunteers. The tournament bracket, team competition, and custom wrap prize create sustained engagement. KC already has the sports culture to fuel it.</a:t>
            </a:r>
            <a:endParaRPr lang="en-US" sz="1100" dirty="0"/>
          </a:p>
        </p:txBody>
      </p:sp>
      <p:pic>
        <p:nvPicPr>
          <p:cNvPr id="11" name="Image 3" descr="preencoded.png">    </p:cNvPr>
          <p:cNvPicPr>
            <a:picLocks noChangeAspect="1"/>
          </p:cNvPicPr>
          <p:nvPr/>
        </p:nvPicPr>
        <p:blipFill>
          <a:blip r:embed="rId4"/>
          <a:stretch>
            <a:fillRect/>
          </a:stretch>
        </p:blipFill>
        <p:spPr>
          <a:xfrm>
            <a:off x="548640" y="2569464"/>
            <a:ext cx="274320" cy="274320"/>
          </a:xfrm>
          <a:prstGeom prst="rect">
            <a:avLst/>
          </a:prstGeom>
        </p:spPr>
      </p:pic>
      <p:sp>
        <p:nvSpPr>
          <p:cNvPr id="12" name="Text 6"/>
          <p:cNvSpPr/>
          <p:nvPr/>
        </p:nvSpPr>
        <p:spPr>
          <a:xfrm>
            <a:off x="1005840" y="2523744"/>
            <a:ext cx="2743200" cy="320040"/>
          </a:xfrm>
          <a:prstGeom prst="rect">
            <a:avLst/>
          </a:prstGeom>
          <a:noFill/>
          <a:ln/>
        </p:spPr>
        <p:txBody>
          <a:bodyPr wrap="square" lIns="0" tIns="0" rIns="0" bIns="0" rtlCol="0" anchor="ctr"/>
          <a:lstStyle/>
          <a:p>
            <a:pPr indent="0" marL="0">
              <a:buNone/>
            </a:pPr>
            <a:r>
              <a:rPr lang="en-US" sz="1500" b="1" dirty="0">
                <a:solidFill>
                  <a:srgbClr val="1B2A4A"/>
                </a:solidFill>
                <a:latin typeface="Trebuchet MS" pitchFamily="34" charset="0"/>
                <a:ea typeface="Trebuchet MS" pitchFamily="34" charset="-122"/>
                <a:cs typeface="Trebuchet MS" pitchFamily="34" charset="-120"/>
              </a:rPr>
              <a:t>Visible, PR-ready impact</a:t>
            </a:r>
            <a:endParaRPr lang="en-US" sz="1500" dirty="0"/>
          </a:p>
        </p:txBody>
      </p:sp>
      <p:sp>
        <p:nvSpPr>
          <p:cNvPr id="13" name="Text 7"/>
          <p:cNvSpPr/>
          <p:nvPr/>
        </p:nvSpPr>
        <p:spPr>
          <a:xfrm>
            <a:off x="1005840" y="2843784"/>
            <a:ext cx="7680960" cy="4114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A mayor can ride the streetcar and see the scoreboard. A council member can watch the wrap unveiling. This program markets itself through existing public signage.</a:t>
            </a:r>
            <a:endParaRPr lang="en-US" sz="1100" dirty="0"/>
          </a:p>
        </p:txBody>
      </p:sp>
      <p:pic>
        <p:nvPicPr>
          <p:cNvPr id="14" name="Image 4" descr="preencoded.png">    </p:cNvPr>
          <p:cNvPicPr>
            <a:picLocks noChangeAspect="1"/>
          </p:cNvPicPr>
          <p:nvPr/>
        </p:nvPicPr>
        <p:blipFill>
          <a:blip r:embed="rId5"/>
          <a:stretch>
            <a:fillRect/>
          </a:stretch>
        </p:blipFill>
        <p:spPr>
          <a:xfrm>
            <a:off x="548640" y="3374136"/>
            <a:ext cx="274320" cy="274320"/>
          </a:xfrm>
          <a:prstGeom prst="rect">
            <a:avLst/>
          </a:prstGeom>
        </p:spPr>
      </p:pic>
      <p:sp>
        <p:nvSpPr>
          <p:cNvPr id="15" name="Text 8"/>
          <p:cNvSpPr/>
          <p:nvPr/>
        </p:nvSpPr>
        <p:spPr>
          <a:xfrm>
            <a:off x="1005840" y="3328416"/>
            <a:ext cx="2743200" cy="320040"/>
          </a:xfrm>
          <a:prstGeom prst="rect">
            <a:avLst/>
          </a:prstGeom>
          <a:noFill/>
          <a:ln/>
        </p:spPr>
        <p:txBody>
          <a:bodyPr wrap="square" lIns="0" tIns="0" rIns="0" bIns="0" rtlCol="0" anchor="ctr"/>
          <a:lstStyle/>
          <a:p>
            <a:pPr indent="0" marL="0">
              <a:buNone/>
            </a:pPr>
            <a:r>
              <a:rPr lang="en-US" sz="1500" b="1" dirty="0">
                <a:solidFill>
                  <a:srgbClr val="1B2A4A"/>
                </a:solidFill>
                <a:latin typeface="Trebuchet MS" pitchFamily="34" charset="0"/>
                <a:ea typeface="Trebuchet MS" pitchFamily="34" charset="-122"/>
                <a:cs typeface="Trebuchet MS" pitchFamily="34" charset="-120"/>
              </a:rPr>
              <a:t>Data-driven targeting</a:t>
            </a:r>
            <a:endParaRPr lang="en-US" sz="1500" dirty="0"/>
          </a:p>
        </p:txBody>
      </p:sp>
      <p:sp>
        <p:nvSpPr>
          <p:cNvPr id="16" name="Text 9"/>
          <p:cNvSpPr/>
          <p:nvPr/>
        </p:nvSpPr>
        <p:spPr>
          <a:xfrm>
            <a:off x="1005840" y="3648456"/>
            <a:ext cx="7680960" cy="4114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We use USDA food atlas, 311 call data, and census demographics to place hubs where need is highest: ZIPs 64127, 64130, 64128, and 64108. Not guesswork. Evidence.</a:t>
            </a:r>
            <a:endParaRPr lang="en-US" sz="1100" dirty="0"/>
          </a:p>
        </p:txBody>
      </p:sp>
      <p:pic>
        <p:nvPicPr>
          <p:cNvPr id="17" name="Image 5" descr="preencoded.png">    </p:cNvPr>
          <p:cNvPicPr>
            <a:picLocks noChangeAspect="1"/>
          </p:cNvPicPr>
          <p:nvPr/>
        </p:nvPicPr>
        <p:blipFill>
          <a:blip r:embed="rId6"/>
          <a:stretch>
            <a:fillRect/>
          </a:stretch>
        </p:blipFill>
        <p:spPr>
          <a:xfrm>
            <a:off x="548640" y="4178808"/>
            <a:ext cx="274320" cy="274320"/>
          </a:xfrm>
          <a:prstGeom prst="rect">
            <a:avLst/>
          </a:prstGeom>
        </p:spPr>
      </p:pic>
      <p:sp>
        <p:nvSpPr>
          <p:cNvPr id="18" name="Text 10"/>
          <p:cNvSpPr/>
          <p:nvPr/>
        </p:nvSpPr>
        <p:spPr>
          <a:xfrm>
            <a:off x="1005840" y="4133088"/>
            <a:ext cx="2743200" cy="320040"/>
          </a:xfrm>
          <a:prstGeom prst="rect">
            <a:avLst/>
          </a:prstGeom>
          <a:noFill/>
          <a:ln/>
        </p:spPr>
        <p:txBody>
          <a:bodyPr wrap="square" lIns="0" tIns="0" rIns="0" bIns="0" rtlCol="0" anchor="ctr"/>
          <a:lstStyle/>
          <a:p>
            <a:pPr indent="0" marL="0">
              <a:buNone/>
            </a:pPr>
            <a:r>
              <a:rPr lang="en-US" sz="1500" b="1" dirty="0">
                <a:solidFill>
                  <a:srgbClr val="1B2A4A"/>
                </a:solidFill>
                <a:latin typeface="Trebuchet MS" pitchFamily="34" charset="0"/>
                <a:ea typeface="Trebuchet MS" pitchFamily="34" charset="-122"/>
                <a:cs typeface="Trebuchet MS" pitchFamily="34" charset="-120"/>
              </a:rPr>
              <a:t>Built for renewal</a:t>
            </a:r>
            <a:endParaRPr lang="en-US" sz="1500" dirty="0"/>
          </a:p>
        </p:txBody>
      </p:sp>
      <p:sp>
        <p:nvSpPr>
          <p:cNvPr id="19" name="Text 11"/>
          <p:cNvSpPr/>
          <p:nvPr/>
        </p:nvSpPr>
        <p:spPr>
          <a:xfrm>
            <a:off x="1005840" y="4453128"/>
            <a:ext cx="7680960" cy="4114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The $50K contingency fund bridges to year 2. The tournament creates annual cycles. Each season brings new teams, new wraps, and new city engagement.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pic>
        <p:nvPicPr>
          <p:cNvPr id="3" name="Image 0" descr="preencoded.png">    </p:cNvPr>
          <p:cNvPicPr>
            <a:picLocks noChangeAspect="1"/>
          </p:cNvPicPr>
          <p:nvPr/>
        </p:nvPicPr>
        <p:blipFill>
          <a:blip r:embed="rId1"/>
          <a:stretch>
            <a:fillRect/>
          </a:stretch>
        </p:blipFill>
        <p:spPr>
          <a:xfrm>
            <a:off x="548640" y="320040"/>
            <a:ext cx="320040" cy="320040"/>
          </a:xfrm>
          <a:prstGeom prst="rect">
            <a:avLst/>
          </a:prstGeom>
        </p:spPr>
      </p:pic>
      <p:sp>
        <p:nvSpPr>
          <p:cNvPr id="4" name="Text 1"/>
          <p:cNvSpPr/>
          <p:nvPr/>
        </p:nvSpPr>
        <p:spPr>
          <a:xfrm>
            <a:off x="960120" y="228600"/>
            <a:ext cx="7315200" cy="548640"/>
          </a:xfrm>
          <a:prstGeom prst="rect">
            <a:avLst/>
          </a:prstGeom>
          <a:noFill/>
          <a:ln/>
        </p:spPr>
        <p:txBody>
          <a:bodyPr wrap="square" lIns="0" tIns="0" rIns="0" bIns="0" rtlCol="0" anchor="ctr"/>
          <a:lstStyle/>
          <a:p>
            <a:pPr indent="0" marL="0">
              <a:buNone/>
            </a:pPr>
            <a:r>
              <a:rPr lang="en-US" sz="2800" b="1" dirty="0">
                <a:solidFill>
                  <a:srgbClr val="1B2A4A"/>
                </a:solidFill>
                <a:latin typeface="Trebuchet MS" pitchFamily="34" charset="0"/>
                <a:ea typeface="Trebuchet MS" pitchFamily="34" charset="-122"/>
                <a:cs typeface="Trebuchet MS" pitchFamily="34" charset="-120"/>
              </a:rPr>
              <a:t>Path to renewal and sustainability</a:t>
            </a:r>
            <a:endParaRPr lang="en-US" sz="2800" dirty="0"/>
          </a:p>
        </p:txBody>
      </p:sp>
      <p:sp>
        <p:nvSpPr>
          <p:cNvPr id="5" name="Text 2"/>
          <p:cNvSpPr/>
          <p:nvPr/>
        </p:nvSpPr>
        <p:spPr>
          <a:xfrm>
            <a:off x="457200" y="914400"/>
            <a:ext cx="8229600" cy="365760"/>
          </a:xfrm>
          <a:prstGeom prst="rect">
            <a:avLst/>
          </a:prstGeom>
          <a:noFill/>
          <a:ln/>
        </p:spPr>
        <p:txBody>
          <a:bodyPr wrap="square" lIns="0" tIns="0" rIns="0" bIns="0" rtlCol="0" anchor="ctr"/>
          <a:lstStyle/>
          <a:p>
            <a:pPr indent="0" marL="0">
              <a:buNone/>
            </a:pPr>
            <a:r>
              <a:rPr lang="en-US" sz="1500" b="1" dirty="0">
                <a:solidFill>
                  <a:srgbClr val="0D9488"/>
                </a:solidFill>
                <a:latin typeface="Trebuchet MS" pitchFamily="34" charset="0"/>
                <a:ea typeface="Trebuchet MS" pitchFamily="34" charset="-122"/>
                <a:cs typeface="Trebuchet MS" pitchFamily="34" charset="-120"/>
              </a:rPr>
              <a:t>Revenue model beyond the initial $500K</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011680"/>
                <a:gridCol w="1371600"/>
                <a:gridCol w="1097280"/>
                <a:gridCol w="374904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Revenue source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Est. annual</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Confidence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Notes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r>
              <a:tr h="0">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City contract renewal</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100" b="1" dirty="0">
                          <a:solidFill>
                            <a:srgbClr val="0D9488"/>
                          </a:solidFill>
                          <a:latin typeface="Calibri" pitchFamily="34" charset="0"/>
                          <a:ea typeface="Calibri" pitchFamily="34" charset="-122"/>
                          <a:cs typeface="Calibri" pitchFamily="34" charset="-120"/>
                        </a:rPr>
                        <a:t>$400-500K/yr</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100" b="1" dirty="0">
                          <a:solidFill>
                            <a:srgbClr val="0D9488"/>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Proven KPIs make renewal straightforward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0">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Corporate sponsorships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D9488"/>
                          </a:solidFill>
                          <a:latin typeface="Calibri" pitchFamily="34" charset="0"/>
                          <a:ea typeface="Calibri" pitchFamily="34" charset="-122"/>
                          <a:cs typeface="Calibri" pitchFamily="34" charset="-120"/>
                        </a:rPr>
                        <a:t>$50-100K/yr</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59E0B"/>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Grocery chains + sports teams sponsor brackets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Federal / state grants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100" b="1" dirty="0">
                          <a:solidFill>
                            <a:srgbClr val="0D9488"/>
                          </a:solidFill>
                          <a:latin typeface="Calibri" pitchFamily="34" charset="0"/>
                          <a:ea typeface="Calibri" pitchFamily="34" charset="-122"/>
                          <a:cs typeface="Calibri" pitchFamily="34" charset="-120"/>
                        </a:rPr>
                        <a:t>$100-200K/yr</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100" b="1" dirty="0">
                          <a:solidFill>
                            <a:srgbClr val="F59E0B"/>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USDA Community Food Projects, HHS grants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0">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Philanthropic partners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D9488"/>
                          </a:solidFill>
                          <a:latin typeface="Calibri" pitchFamily="34" charset="0"/>
                          <a:ea typeface="Calibri" pitchFamily="34" charset="-122"/>
                          <a:cs typeface="Calibri" pitchFamily="34" charset="-120"/>
                        </a:rPr>
                        <a:t>$50-75K/yr</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D9488"/>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Health Forward Foundation, Kauffman Foundation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7" name="Text 3"/>
          <p:cNvSpPr/>
          <p:nvPr/>
        </p:nvSpPr>
        <p:spPr>
          <a:xfrm>
            <a:off x="457200" y="3200400"/>
            <a:ext cx="8229600" cy="365760"/>
          </a:xfrm>
          <a:prstGeom prst="rect">
            <a:avLst/>
          </a:prstGeom>
          <a:noFill/>
          <a:ln/>
        </p:spPr>
        <p:txBody>
          <a:bodyPr wrap="square" lIns="0" tIns="0" rIns="0" bIns="0" rtlCol="0" anchor="ctr"/>
          <a:lstStyle/>
          <a:p>
            <a:pPr indent="0" marL="0">
              <a:buNone/>
            </a:pPr>
            <a:r>
              <a:rPr lang="en-US" sz="1500" b="1" dirty="0">
                <a:solidFill>
                  <a:srgbClr val="0D9488"/>
                </a:solidFill>
                <a:latin typeface="Trebuchet MS" pitchFamily="34" charset="0"/>
                <a:ea typeface="Trebuchet MS" pitchFamily="34" charset="-122"/>
                <a:cs typeface="Trebuchet MS" pitchFamily="34" charset="-120"/>
              </a:rPr>
              <a:t>Renewal triggers we will deliver by Day 60</a:t>
            </a:r>
            <a:endParaRPr lang="en-US" sz="1500" dirty="0"/>
          </a:p>
        </p:txBody>
      </p:sp>
      <p:sp>
        <p:nvSpPr>
          <p:cNvPr id="8" name="Text 4"/>
          <p:cNvSpPr/>
          <p:nvPr/>
        </p:nvSpPr>
        <p:spPr>
          <a:xfrm>
            <a:off x="457200" y="3566160"/>
            <a:ext cx="8229600" cy="13716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2,000+ unique households served in priority ZIPs (verified by address)</a:t>
            </a:r>
            <a:endParaRPr lang="en-US" sz="1200" dirty="0"/>
          </a:p>
          <a:p>
            <a:pPr marL="342900" indent="-342900">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50%+ volunteer team retention week-over-week in tournament bracket</a:t>
            </a:r>
            <a:endParaRPr lang="en-US" sz="1200" dirty="0"/>
          </a:p>
          <a:p>
            <a:pPr marL="342900" indent="-342900">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Average distance from hub stop to household door under 0.5 miles</a:t>
            </a:r>
            <a:endParaRPr lang="en-US" sz="1200" dirty="0"/>
          </a:p>
          <a:p>
            <a:pPr marL="342900" indent="-342900">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Public dashboard showing real-time distribution data for city transparency</a:t>
            </a:r>
            <a:endParaRPr lang="en-US" sz="1200" dirty="0"/>
          </a:p>
          <a:p>
            <a:pPr marL="342900" indent="-342900">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Custom streetcar wrap unveiled as PR moment for mayor and council</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7315200" cy="548640"/>
          </a:xfrm>
          <a:prstGeom prst="rect">
            <a:avLst/>
          </a:prstGeom>
          <a:noFill/>
          <a:ln/>
        </p:spPr>
        <p:txBody>
          <a:bodyPr wrap="square" lIns="0" tIns="0" rIns="0" bIns="0" rtlCol="0" anchor="ctr"/>
          <a:lstStyle/>
          <a:p>
            <a:pPr indent="0" marL="0">
              <a:buNone/>
            </a:pPr>
            <a:r>
              <a:rPr lang="en-US" sz="2800" b="1" dirty="0">
                <a:solidFill>
                  <a:srgbClr val="1B2A4A"/>
                </a:solidFill>
                <a:latin typeface="Trebuchet MS" pitchFamily="34" charset="0"/>
                <a:ea typeface="Trebuchet MS" pitchFamily="34" charset="-122"/>
                <a:cs typeface="Trebuchet MS" pitchFamily="34" charset="-120"/>
              </a:rPr>
              <a:t>AI mastery: how we built this</a:t>
            </a:r>
            <a:endParaRPr lang="en-US" sz="2800" dirty="0"/>
          </a:p>
        </p:txBody>
      </p:sp>
      <p:sp>
        <p:nvSpPr>
          <p:cNvPr id="4" name="Shape 2"/>
          <p:cNvSpPr/>
          <p:nvPr/>
        </p:nvSpPr>
        <p:spPr>
          <a:xfrm>
            <a:off x="457200" y="1005840"/>
            <a:ext cx="8229600" cy="822960"/>
          </a:xfrm>
          <a:prstGeom prst="rect">
            <a:avLst/>
          </a:prstGeom>
          <a:solidFill>
            <a:srgbClr val="F1F5F9"/>
          </a:solidFill>
          <a:ln/>
          <a:effectLst>
            <a:outerShdw sx="100000" sy="100000" kx="0" ky="0" algn="bl" rotWithShape="0" blurRad="76200" dist="25400" dir="8100000">
              <a:srgbClr val="000000">
                <a:alpha val="10000"/>
              </a:srgbClr>
            </a:outerShdw>
          </a:effectLst>
        </p:spPr>
      </p:sp>
      <p:sp>
        <p:nvSpPr>
          <p:cNvPr id="5" name="Text 3"/>
          <p:cNvSpPr/>
          <p:nvPr/>
        </p:nvSpPr>
        <p:spPr>
          <a:xfrm>
            <a:off x="731520" y="1078992"/>
            <a:ext cx="7680960" cy="274320"/>
          </a:xfrm>
          <a:prstGeom prst="rect">
            <a:avLst/>
          </a:prstGeom>
          <a:noFill/>
          <a:ln/>
        </p:spPr>
        <p:txBody>
          <a:bodyPr wrap="square" lIns="0" tIns="0" rIns="0" bIns="0" rtlCol="0" anchor="ctr"/>
          <a:lstStyle/>
          <a:p>
            <a:pPr indent="0" marL="0">
              <a:buNone/>
            </a:pPr>
            <a:r>
              <a:rPr lang="en-US" sz="1400" b="1" dirty="0">
                <a:solidFill>
                  <a:srgbClr val="0D9488"/>
                </a:solidFill>
                <a:latin typeface="Trebuchet MS" pitchFamily="34" charset="0"/>
                <a:ea typeface="Trebuchet MS" pitchFamily="34" charset="-122"/>
                <a:cs typeface="Trebuchet MS" pitchFamily="34" charset="-120"/>
              </a:rPr>
              <a:t>Boardy AI (voice)</a:t>
            </a:r>
            <a:endParaRPr lang="en-US" sz="1400" dirty="0"/>
          </a:p>
        </p:txBody>
      </p:sp>
      <p:sp>
        <p:nvSpPr>
          <p:cNvPr id="6" name="Text 4"/>
          <p:cNvSpPr/>
          <p:nvPr/>
        </p:nvSpPr>
        <p:spPr>
          <a:xfrm>
            <a:off x="731520" y="1371600"/>
            <a:ext cx="7680960" cy="4114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Pressure-tested the StreetCart concept in a live call. Iterated from basic streetcar distribution to the March Madness tournament + scoreboard layers through conversational sparring.</a:t>
            </a:r>
            <a:endParaRPr lang="en-US" sz="1100" dirty="0"/>
          </a:p>
        </p:txBody>
      </p:sp>
      <p:sp>
        <p:nvSpPr>
          <p:cNvPr id="7" name="Shape 5"/>
          <p:cNvSpPr/>
          <p:nvPr/>
        </p:nvSpPr>
        <p:spPr>
          <a:xfrm>
            <a:off x="457200" y="2011680"/>
            <a:ext cx="8229600" cy="82296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8" name="Text 6"/>
          <p:cNvSpPr/>
          <p:nvPr/>
        </p:nvSpPr>
        <p:spPr>
          <a:xfrm>
            <a:off x="731520" y="2084832"/>
            <a:ext cx="7680960" cy="274320"/>
          </a:xfrm>
          <a:prstGeom prst="rect">
            <a:avLst/>
          </a:prstGeom>
          <a:noFill/>
          <a:ln/>
        </p:spPr>
        <p:txBody>
          <a:bodyPr wrap="square" lIns="0" tIns="0" rIns="0" bIns="0" rtlCol="0" anchor="ctr"/>
          <a:lstStyle/>
          <a:p>
            <a:pPr indent="0" marL="0">
              <a:buNone/>
            </a:pPr>
            <a:r>
              <a:rPr lang="en-US" sz="1400" b="1" dirty="0">
                <a:solidFill>
                  <a:srgbClr val="0D9488"/>
                </a:solidFill>
                <a:latin typeface="Trebuchet MS" pitchFamily="34" charset="0"/>
                <a:ea typeface="Trebuchet MS" pitchFamily="34" charset="-122"/>
                <a:cs typeface="Trebuchet MS" pitchFamily="34" charset="-120"/>
              </a:rPr>
              <a:t>Claude (analysis + build)</a:t>
            </a:r>
            <a:endParaRPr lang="en-US" sz="1400" dirty="0"/>
          </a:p>
        </p:txBody>
      </p:sp>
      <p:sp>
        <p:nvSpPr>
          <p:cNvPr id="9" name="Text 7"/>
          <p:cNvSpPr/>
          <p:nvPr/>
        </p:nvSpPr>
        <p:spPr>
          <a:xfrm>
            <a:off x="731520" y="2377440"/>
            <a:ext cx="7680960" cy="4114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Pulled all 8 challenge API endpoints. Analyzed food desert data, demographics, pantry capacity, and transit routes to identify the 4 priority ZIPs and optimal hub stop locations.</a:t>
            </a:r>
            <a:endParaRPr lang="en-US" sz="1100" dirty="0"/>
          </a:p>
        </p:txBody>
      </p:sp>
      <p:sp>
        <p:nvSpPr>
          <p:cNvPr id="10" name="Shape 8"/>
          <p:cNvSpPr/>
          <p:nvPr/>
        </p:nvSpPr>
        <p:spPr>
          <a:xfrm>
            <a:off x="457200" y="3017520"/>
            <a:ext cx="8229600" cy="822960"/>
          </a:xfrm>
          <a:prstGeom prst="rect">
            <a:avLst/>
          </a:prstGeom>
          <a:solidFill>
            <a:srgbClr val="F1F5F9"/>
          </a:solidFill>
          <a:ln/>
          <a:effectLst>
            <a:outerShdw sx="100000" sy="100000" kx="0" ky="0" algn="bl" rotWithShape="0" blurRad="76200" dist="25400" dir="8100000">
              <a:srgbClr val="000000">
                <a:alpha val="10000"/>
              </a:srgbClr>
            </a:outerShdw>
          </a:effectLst>
        </p:spPr>
      </p:sp>
      <p:sp>
        <p:nvSpPr>
          <p:cNvPr id="11" name="Text 9"/>
          <p:cNvSpPr/>
          <p:nvPr/>
        </p:nvSpPr>
        <p:spPr>
          <a:xfrm>
            <a:off x="731520" y="3090672"/>
            <a:ext cx="7680960" cy="274320"/>
          </a:xfrm>
          <a:prstGeom prst="rect">
            <a:avLst/>
          </a:prstGeom>
          <a:noFill/>
          <a:ln/>
        </p:spPr>
        <p:txBody>
          <a:bodyPr wrap="square" lIns="0" tIns="0" rIns="0" bIns="0" rtlCol="0" anchor="ctr"/>
          <a:lstStyle/>
          <a:p>
            <a:pPr indent="0" marL="0">
              <a:buNone/>
            </a:pPr>
            <a:r>
              <a:rPr lang="en-US" sz="1400" b="1" dirty="0">
                <a:solidFill>
                  <a:srgbClr val="0D9488"/>
                </a:solidFill>
                <a:latin typeface="Trebuchet MS" pitchFamily="34" charset="0"/>
                <a:ea typeface="Trebuchet MS" pitchFamily="34" charset="-122"/>
                <a:cs typeface="Trebuchet MS" pitchFamily="34" charset="-120"/>
              </a:rPr>
              <a:t>Claude (financial modeling)</a:t>
            </a:r>
            <a:endParaRPr lang="en-US" sz="1400" dirty="0"/>
          </a:p>
        </p:txBody>
      </p:sp>
      <p:sp>
        <p:nvSpPr>
          <p:cNvPr id="12" name="Text 10"/>
          <p:cNvSpPr/>
          <p:nvPr/>
        </p:nvSpPr>
        <p:spPr>
          <a:xfrm>
            <a:off x="731520" y="3383280"/>
            <a:ext cx="7680960" cy="4114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Built the $500K budget allocation, calculated cost-per-household metrics, and modeled the renewal revenue pathway with confidence ratings.</a:t>
            </a:r>
            <a:endParaRPr lang="en-US" sz="1100" dirty="0"/>
          </a:p>
        </p:txBody>
      </p:sp>
      <p:sp>
        <p:nvSpPr>
          <p:cNvPr id="13" name="Shape 11"/>
          <p:cNvSpPr/>
          <p:nvPr/>
        </p:nvSpPr>
        <p:spPr>
          <a:xfrm>
            <a:off x="457200" y="4023360"/>
            <a:ext cx="8229600" cy="82296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4" name="Text 12"/>
          <p:cNvSpPr/>
          <p:nvPr/>
        </p:nvSpPr>
        <p:spPr>
          <a:xfrm>
            <a:off x="731520" y="4096512"/>
            <a:ext cx="7680960" cy="274320"/>
          </a:xfrm>
          <a:prstGeom prst="rect">
            <a:avLst/>
          </a:prstGeom>
          <a:noFill/>
          <a:ln/>
        </p:spPr>
        <p:txBody>
          <a:bodyPr wrap="square" lIns="0" tIns="0" rIns="0" bIns="0" rtlCol="0" anchor="ctr"/>
          <a:lstStyle/>
          <a:p>
            <a:pPr indent="0" marL="0">
              <a:buNone/>
            </a:pPr>
            <a:r>
              <a:rPr lang="en-US" sz="1400" b="1" dirty="0">
                <a:solidFill>
                  <a:srgbClr val="0D9488"/>
                </a:solidFill>
                <a:latin typeface="Trebuchet MS" pitchFamily="34" charset="0"/>
                <a:ea typeface="Trebuchet MS" pitchFamily="34" charset="-122"/>
                <a:cs typeface="Trebuchet MS" pitchFamily="34" charset="-120"/>
              </a:rPr>
              <a:t>Claude (presentation)</a:t>
            </a:r>
            <a:endParaRPr lang="en-US" sz="1400" dirty="0"/>
          </a:p>
        </p:txBody>
      </p:sp>
      <p:sp>
        <p:nvSpPr>
          <p:cNvPr id="15" name="Text 13"/>
          <p:cNvSpPr/>
          <p:nvPr/>
        </p:nvSpPr>
        <p:spPr>
          <a:xfrm>
            <a:off x="731520" y="4389120"/>
            <a:ext cx="7680960" cy="4114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Generated this entire pitch deck programmatically using pptxgenjs, with data-driven tables, KPI cards, and budget breakdowns produced directly from API data.</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593C"/>
          </a:solidFill>
          <a:ln/>
        </p:spPr>
      </p:sp>
      <p:sp>
        <p:nvSpPr>
          <p:cNvPr id="3" name="Text 1"/>
          <p:cNvSpPr/>
          <p:nvPr/>
        </p:nvSpPr>
        <p:spPr>
          <a:xfrm>
            <a:off x="548640" y="1371600"/>
            <a:ext cx="8229600" cy="731520"/>
          </a:xfrm>
          <a:prstGeom prst="rect">
            <a:avLst/>
          </a:prstGeom>
          <a:noFill/>
          <a:ln/>
        </p:spPr>
        <p:txBody>
          <a:bodyPr wrap="square" lIns="0" tIns="0" rIns="0" bIns="0"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Curveball response</a:t>
            </a:r>
            <a:endParaRPr lang="en-US" sz="3600" dirty="0"/>
          </a:p>
        </p:txBody>
      </p:sp>
      <p:sp>
        <p:nvSpPr>
          <p:cNvPr id="4" name="Text 2"/>
          <p:cNvSpPr/>
          <p:nvPr/>
        </p:nvSpPr>
        <p:spPr>
          <a:xfrm>
            <a:off x="548640" y="2286000"/>
            <a:ext cx="7772400" cy="914400"/>
          </a:xfrm>
          <a:prstGeom prst="rect">
            <a:avLst/>
          </a:prstGeom>
          <a:noFill/>
          <a:ln/>
        </p:spPr>
        <p:txBody>
          <a:bodyPr wrap="square" lIns="0" tIns="0" rIns="0" bIns="0" rtlCol="0" anchor="ctr"/>
          <a:lstStyle/>
          <a:p>
            <a:pPr indent="0" marL="0">
              <a:lnSpc>
                <a:spcPct val="150000"/>
              </a:lnSpc>
              <a:buNone/>
            </a:pPr>
            <a:r>
              <a:rPr lang="en-US" sz="1800" dirty="0">
                <a:solidFill>
                  <a:srgbClr val="94A3B8"/>
                </a:solidFill>
                <a:latin typeface="Calibri" pitchFamily="34" charset="0"/>
                <a:ea typeface="Calibri" pitchFamily="34" charset="-122"/>
                <a:cs typeface="Calibri" pitchFamily="34" charset="-120"/>
              </a:rPr>
              <a:t>This slide will be updated at 1:00 PM when the curveball is announced.</a:t>
            </a:r>
            <a:endParaRPr lang="en-US" sz="1800" dirty="0"/>
          </a:p>
          <a:p>
            <a:pPr indent="0" marL="0">
              <a:lnSpc>
                <a:spcPct val="150000"/>
              </a:lnSpc>
              <a:buNone/>
            </a:pPr>
            <a:r>
              <a:rPr lang="en-US" sz="1800" dirty="0">
                <a:solidFill>
                  <a:srgbClr val="94A3B8"/>
                </a:solidFill>
                <a:latin typeface="Calibri" pitchFamily="34" charset="0"/>
                <a:ea typeface="Calibri" pitchFamily="34" charset="-122"/>
                <a:cs typeface="Calibri" pitchFamily="34" charset="-120"/>
              </a:rPr>
              <a:t>StreetCart KC is designed for adaptability.</a:t>
            </a:r>
            <a:endParaRPr lang="en-US" sz="1800" dirty="0"/>
          </a:p>
        </p:txBody>
      </p:sp>
      <p:sp>
        <p:nvSpPr>
          <p:cNvPr id="5" name="Shape 3"/>
          <p:cNvSpPr/>
          <p:nvPr/>
        </p:nvSpPr>
        <p:spPr>
          <a:xfrm>
            <a:off x="548640" y="3474720"/>
            <a:ext cx="2286000" cy="0"/>
          </a:xfrm>
          <a:prstGeom prst="line">
            <a:avLst/>
          </a:prstGeom>
          <a:noFill/>
          <a:ln w="25400">
            <a:solidFill>
              <a:srgbClr val="E8593C"/>
            </a:solidFill>
            <a:prstDash val="solid"/>
          </a:ln>
        </p:spPr>
      </p:sp>
      <p:sp>
        <p:nvSpPr>
          <p:cNvPr id="6" name="Text 4"/>
          <p:cNvSpPr/>
          <p:nvPr/>
        </p:nvSpPr>
        <p:spPr>
          <a:xfrm>
            <a:off x="548640" y="3657600"/>
            <a:ext cx="7772400" cy="731520"/>
          </a:xfrm>
          <a:prstGeom prst="rect">
            <a:avLst/>
          </a:prstGeom>
          <a:noFill/>
          <a:ln/>
        </p:spPr>
        <p:txBody>
          <a:bodyPr wrap="square" lIns="0" tIns="0" rIns="0" bIns="0" rtlCol="0" anchor="ctr"/>
          <a:lstStyle/>
          <a:p>
            <a:pPr indent="0" marL="0">
              <a:lnSpc>
                <a:spcPct val="140000"/>
              </a:lnSpc>
              <a:buNone/>
            </a:pPr>
            <a:r>
              <a:rPr lang="en-US" sz="1300" dirty="0">
                <a:solidFill>
                  <a:srgbClr val="94A3B8"/>
                </a:solidFill>
                <a:latin typeface="Calibri" pitchFamily="34" charset="0"/>
                <a:ea typeface="Calibri" pitchFamily="34" charset="-122"/>
                <a:cs typeface="Calibri" pitchFamily="34" charset="-120"/>
              </a:rPr>
              <a:t>Built-in flexibility: tournament brackets can restructure, hub stops can shift,</a:t>
            </a:r>
            <a:endParaRPr lang="en-US" sz="1300" dirty="0"/>
          </a:p>
          <a:p>
            <a:pPr indent="0" marL="0">
              <a:lnSpc>
                <a:spcPct val="140000"/>
              </a:lnSpc>
              <a:buNone/>
            </a:pPr>
            <a:r>
              <a:rPr lang="en-US" sz="1300" dirty="0">
                <a:solidFill>
                  <a:srgbClr val="94A3B8"/>
                </a:solidFill>
                <a:latin typeface="Calibri" pitchFamily="34" charset="0"/>
                <a:ea typeface="Calibri" pitchFamily="34" charset="-122"/>
                <a:cs typeface="Calibri" pitchFamily="34" charset="-120"/>
              </a:rPr>
              <a:t>and the streetcar line adapts to any neighborhood the city prioritizes.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pic>
        <p:nvPicPr>
          <p:cNvPr id="3" name="Image 0" descr="preencoded.png">    </p:cNvPr>
          <p:cNvPicPr>
            <a:picLocks noChangeAspect="1"/>
          </p:cNvPicPr>
          <p:nvPr/>
        </p:nvPicPr>
        <p:blipFill>
          <a:blip r:embed="rId1"/>
          <a:stretch>
            <a:fillRect/>
          </a:stretch>
        </p:blipFill>
        <p:spPr>
          <a:xfrm>
            <a:off x="3794760" y="731520"/>
            <a:ext cx="640080" cy="640080"/>
          </a:xfrm>
          <a:prstGeom prst="rect">
            <a:avLst/>
          </a:prstGeom>
        </p:spPr>
      </p:pic>
      <p:sp>
        <p:nvSpPr>
          <p:cNvPr id="4" name="Text 1"/>
          <p:cNvSpPr/>
          <p:nvPr/>
        </p:nvSpPr>
        <p:spPr>
          <a:xfrm>
            <a:off x="914400" y="1463040"/>
            <a:ext cx="7315200" cy="822960"/>
          </a:xfrm>
          <a:prstGeom prst="rect">
            <a:avLst/>
          </a:prstGeom>
          <a:noFill/>
          <a:ln/>
        </p:spPr>
        <p:txBody>
          <a:bodyPr wrap="square" lIns="0" tIns="0" rIns="0" bIns="0" rtlCol="0" anchor="ctr"/>
          <a:lstStyle/>
          <a:p>
            <a:pPr algn="ctr" indent="0" marL="0">
              <a:buNone/>
            </a:pPr>
            <a:r>
              <a:rPr lang="en-US" sz="4400" b="1" dirty="0">
                <a:solidFill>
                  <a:srgbClr val="FFFFFF"/>
                </a:solidFill>
                <a:latin typeface="Trebuchet MS" pitchFamily="34" charset="0"/>
                <a:ea typeface="Trebuchet MS" pitchFamily="34" charset="-122"/>
                <a:cs typeface="Trebuchet MS" pitchFamily="34" charset="-120"/>
              </a:rPr>
              <a:t>StreetCart KC</a:t>
            </a:r>
            <a:endParaRPr lang="en-US" sz="4400" dirty="0"/>
          </a:p>
        </p:txBody>
      </p:sp>
      <p:sp>
        <p:nvSpPr>
          <p:cNvPr id="5" name="Text 2"/>
          <p:cNvSpPr/>
          <p:nvPr/>
        </p:nvSpPr>
        <p:spPr>
          <a:xfrm>
            <a:off x="914400" y="2286000"/>
            <a:ext cx="7315200" cy="731520"/>
          </a:xfrm>
          <a:prstGeom prst="rect">
            <a:avLst/>
          </a:prstGeom>
          <a:noFill/>
          <a:ln/>
        </p:spPr>
        <p:txBody>
          <a:bodyPr wrap="square" lIns="0" tIns="0" rIns="0" bIns="0" rtlCol="0" anchor="ctr"/>
          <a:lstStyle/>
          <a:p>
            <a:pPr algn="ctr" indent="0" marL="0">
              <a:lnSpc>
                <a:spcPct val="140000"/>
              </a:lnSpc>
              <a:buNone/>
            </a:pPr>
            <a:r>
              <a:rPr lang="en-US" sz="1600" dirty="0">
                <a:solidFill>
                  <a:srgbClr val="94A3B8"/>
                </a:solidFill>
                <a:latin typeface="Calibri" pitchFamily="34" charset="0"/>
                <a:ea typeface="Calibri" pitchFamily="34" charset="-122"/>
                <a:cs typeface="Calibri" pitchFamily="34" charset="-120"/>
              </a:rPr>
              <a:t>Turning the KC streetcar into a rolling food spine</a:t>
            </a:r>
            <a:endParaRPr lang="en-US" sz="1600" dirty="0"/>
          </a:p>
          <a:p>
            <a:pPr algn="ctr" indent="0" marL="0">
              <a:lnSpc>
                <a:spcPct val="140000"/>
              </a:lnSpc>
              <a:buNone/>
            </a:pPr>
            <a:r>
              <a:rPr lang="en-US" sz="1600" dirty="0">
                <a:solidFill>
                  <a:srgbClr val="94A3B8"/>
                </a:solidFill>
                <a:latin typeface="Calibri" pitchFamily="34" charset="0"/>
                <a:ea typeface="Calibri" pitchFamily="34" charset="-122"/>
                <a:cs typeface="Calibri" pitchFamily="34" charset="-120"/>
              </a:rPr>
              <a:t>with a March Madness-style volunteer tournament</a:t>
            </a:r>
            <a:endParaRPr lang="en-US" sz="1600" dirty="0"/>
          </a:p>
        </p:txBody>
      </p:sp>
      <p:sp>
        <p:nvSpPr>
          <p:cNvPr id="6" name="Shape 3"/>
          <p:cNvSpPr/>
          <p:nvPr/>
        </p:nvSpPr>
        <p:spPr>
          <a:xfrm>
            <a:off x="3657600" y="3200400"/>
            <a:ext cx="1828800" cy="0"/>
          </a:xfrm>
          <a:prstGeom prst="line">
            <a:avLst/>
          </a:prstGeom>
          <a:noFill/>
          <a:ln w="25400">
            <a:solidFill>
              <a:srgbClr val="0D9488"/>
            </a:solidFill>
            <a:prstDash val="solid"/>
          </a:ln>
        </p:spPr>
      </p:sp>
      <p:sp>
        <p:nvSpPr>
          <p:cNvPr id="7" name="Text 4"/>
          <p:cNvSpPr/>
          <p:nvPr/>
        </p:nvSpPr>
        <p:spPr>
          <a:xfrm>
            <a:off x="914400" y="3474720"/>
            <a:ext cx="7315200" cy="457200"/>
          </a:xfrm>
          <a:prstGeom prst="rect">
            <a:avLst/>
          </a:prstGeom>
          <a:noFill/>
          <a:ln/>
        </p:spPr>
        <p:txBody>
          <a:bodyPr wrap="square" lIns="0" tIns="0" rIns="0" bIns="0"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Team Codex KC  |  Oracle Track  |  AI Prompt Championship 2026</a:t>
            </a:r>
            <a:endParaRPr lang="en-US" sz="1300" dirty="0"/>
          </a:p>
        </p:txBody>
      </p:sp>
      <p:sp>
        <p:nvSpPr>
          <p:cNvPr id="8" name="Shape 5"/>
          <p:cNvSpPr/>
          <p:nvPr/>
        </p:nvSpPr>
        <p:spPr>
          <a:xfrm>
            <a:off x="2743200" y="4114800"/>
            <a:ext cx="3657600" cy="502920"/>
          </a:xfrm>
          <a:prstGeom prst="rect">
            <a:avLst/>
          </a:prstGeom>
          <a:solidFill>
            <a:srgbClr val="0D9488"/>
          </a:solidFill>
          <a:ln/>
        </p:spPr>
      </p:sp>
      <p:sp>
        <p:nvSpPr>
          <p:cNvPr id="9" name="Text 6"/>
          <p:cNvSpPr/>
          <p:nvPr/>
        </p:nvSpPr>
        <p:spPr>
          <a:xfrm>
            <a:off x="2743200" y="4114800"/>
            <a:ext cx="36576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Ready to roll. Let's feed Kansas City.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StreetCart KC - Oracle Track</dc:title>
  <dc:subject>PptxGenJS Presentation</dc:subject>
  <dc:creator>Team Codex KC</dc:creator>
  <cp:lastModifiedBy>Team Codex KC</cp:lastModifiedBy>
  <cp:revision>1</cp:revision>
  <dcterms:created xsi:type="dcterms:W3CDTF">2026-03-28T15:46:33Z</dcterms:created>
  <dcterms:modified xsi:type="dcterms:W3CDTF">2026-03-28T15:46:33Z</dcterms:modified>
</cp:coreProperties>
</file>