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elgreen/Downloads/ai-prompt-kc-2026/site/assets/streetcart-hub.jp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4" name="Shape 1"/>
          <p:cNvSpPr/>
          <p:nvPr/>
        </p:nvSpPr>
        <p:spPr>
          <a:xfrm>
            <a:off x="5806440" y="0"/>
            <a:ext cx="1645920" cy="6858000"/>
          </a:xfrm>
          <a:prstGeom prst="rect">
            <a:avLst/>
          </a:prstGeom>
          <a:solidFill>
            <a:srgbClr val="101827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A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Kansas City's streetcar-led food access pilot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StreetCart KC converts Kansas City's fare-free streetcar corridor into a gamified food access backbone, using sports-team volunteer tournaments to move grocery boxes from transit hubs into the city's worst food deserts for $20-35 per delivered box.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3520440"/>
            <a:ext cx="1426464" cy="256032"/>
          </a:xfrm>
          <a:prstGeom prst="roundRect">
            <a:avLst>
              <a:gd name="adj" fmla="val 28571"/>
            </a:avLst>
          </a:prstGeom>
          <a:solidFill>
            <a:srgbClr val="C53E37"/>
          </a:solidFill>
          <a:ln w="6350">
            <a:solidFill>
              <a:srgbClr val="C53E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557016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Oracle-led city proposal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03120" y="3520440"/>
            <a:ext cx="1248156" cy="256032"/>
          </a:xfrm>
          <a:prstGeom prst="roundRect">
            <a:avLst>
              <a:gd name="adj" fmla="val 28571"/>
            </a:avLst>
          </a:prstGeom>
          <a:solidFill>
            <a:srgbClr val="5C7AEA"/>
          </a:solidFill>
          <a:ln w="6350">
            <a:solidFill>
              <a:srgbClr val="5C7A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94560" y="3557016"/>
            <a:ext cx="10652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Muse inside the pitch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520440" y="3520440"/>
            <a:ext cx="1248156" cy="256032"/>
          </a:xfrm>
          <a:prstGeom prst="roundRect">
            <a:avLst>
              <a:gd name="adj" fmla="val 28571"/>
            </a:avLst>
          </a:prstGeom>
          <a:solidFill>
            <a:srgbClr val="2E7D64"/>
          </a:solidFill>
          <a:ln w="6350">
            <a:solidFill>
              <a:srgbClr val="2E7D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3557016"/>
            <a:ext cx="10652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live demo linked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8368" y="39776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11-slide deck  •  live site  •  worklog evidence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131F34"/>
          </a:solidFill>
          <a:ln w="12700">
            <a:solidFill>
              <a:srgbClr val="2432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96519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46,400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22960" y="5349240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A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Residents hit by store closures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5623560"/>
            <a:ext cx="13350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CE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grocery closures in 2024-2025 landed inside USDA food-desert ZIPs.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532888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131F34"/>
          </a:solidFill>
          <a:ln w="12700">
            <a:solidFill>
              <a:srgbClr val="2432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97480" y="496519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3M lbs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697480" y="5349240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A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supply shortfall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97480" y="5623560"/>
            <a:ext cx="13350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CE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Harvesters reports a 3 million-pound quarterly gap after the TEFAP cut.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407408" y="480060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131F34"/>
          </a:solidFill>
          <a:ln w="12700">
            <a:solidFill>
              <a:srgbClr val="2432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96519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1,000 lbs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0" y="5349240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A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rescue window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0" y="5623560"/>
            <a:ext cx="13350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CE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tomatoes and peppers must be routed through cold-chain partners inside 48 hours.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58368" y="6327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  •  60-day pilot plan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Kansas City's food access problem is visible in three numbers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the facts that make the StreetCart response feel necessary, not decorative.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3EE"/>
          </a:solidFill>
          <a:ln w="12700">
            <a:solidFill>
              <a:srgbClr val="E7C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81912"/>
            <a:ext cx="3072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46,400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Residents hit by store closures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2240280"/>
            <a:ext cx="307238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grocery closures in 2024-2025 landed inside USDA food-desert ZIPs.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4F7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581912"/>
            <a:ext cx="3072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3M lbs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272" y="1965960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7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supply shortfall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62272" y="2240280"/>
            <a:ext cx="307238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Harvesters reports a 3 million-pound quarterly gap after the TEFAP cut.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0FAF5"/>
          </a:solidFill>
          <a:ln w="12700">
            <a:solidFill>
              <a:srgbClr val="BEE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581912"/>
            <a:ext cx="3072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1,000 lbs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11312" y="1965960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rescue window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11312" y="2240280"/>
            <a:ext cx="307238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tomatoes and peppers must be routed through cold-chain partners inside 48 hours.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this proposal is for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" y="356616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food-access lead who needs a visible 60-day win and a renewal case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Pantry and nonprofit partners who need one operating picture instead of fragmented phone trees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Residents in priority ZIPs who need bilingual instructions and predictable pickup windows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Volunteer teams who need a reason to show up more than once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324612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172034"/>
          </a:solidFill>
          <a:ln w="12700">
            <a:solidFill>
              <a:srgbClr val="1720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34564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ZIP proof anchors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3858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A23B"/>
                </a:solidFill>
              </a:rPr>
              <a:t>64130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3800" y="38862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DE8"/>
                </a:solidFill>
              </a:rPr>
              <a:t>18.2% food insecurity • 38% no vehicle • zero pantry hits in sampled API query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4297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A23B"/>
                </a:solidFill>
              </a:rPr>
              <a:t>66101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43800" y="43251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DE8"/>
                </a:solidFill>
              </a:rPr>
              <a:t>24.1% food insecurity • 62.8% Hispanic • partner-fed expansion case beyond the corridor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491947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5C7"/>
                </a:solidFill>
              </a:rPr>
              <a:t>Source set: challenge brief, harvest, pantries, demographics, supply alerts.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the three numbers judges will remember. Save the rest for backup.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 fixes the access layer in one visible operating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streetcar is the public spine. Partners and feeder hubs do the neighborhood fulfillment.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3EE"/>
          </a:solidFill>
          <a:ln w="12700">
            <a:solidFill>
              <a:srgbClr val="E5C5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35915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29B"/>
                </a:solidFill>
              </a:rPr>
              <a:t>harvest + pantries + alerts + demographics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21945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5F6FF"/>
          </a:solidFill>
          <a:ln w="12700">
            <a:solidFill>
              <a:srgbClr val="CB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235915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priorities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07208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29B"/>
                </a:solidFill>
              </a:rPr>
              <a:t>ZIP ranking and weekly hub schedule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21945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0FAF5"/>
          </a:solidFill>
          <a:ln w="12700">
            <a:solidFill>
              <a:srgbClr val="BEE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235915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 hubs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29B"/>
                </a:solidFill>
              </a:rPr>
              <a:t>Recurring civic-facing pickup windows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21945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8E8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235915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Resident instructions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30568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29B"/>
                </a:solidFill>
              </a:rPr>
              <a:t>Bilingual SMS and partner-assisted intake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732520" y="21945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CEFF7"/>
          </a:solidFill>
          <a:ln w="12700">
            <a:solidFill>
              <a:srgbClr val="E8C1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42248" y="235915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completions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42248" y="2743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29B"/>
                </a:solidFill>
              </a:rPr>
              <a:t>Pickup, delivery, and verification ledger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50008" y="2697480"/>
            <a:ext cx="256032" cy="384048"/>
          </a:xfrm>
          <a:prstGeom prst="chevron">
            <a:avLst/>
          </a:prstGeom>
          <a:solidFill>
            <a:srgbClr val="C53E37"/>
          </a:solidFill>
          <a:ln w="12700">
            <a:solidFill>
              <a:srgbClr val="C53E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1688" y="2697480"/>
            <a:ext cx="256032" cy="384048"/>
          </a:xfrm>
          <a:prstGeom prst="chevron">
            <a:avLst/>
          </a:prstGeom>
          <a:solidFill>
            <a:srgbClr val="C53E37"/>
          </a:solidFill>
          <a:ln w="12700">
            <a:solidFill>
              <a:srgbClr val="C53E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2697480"/>
            <a:ext cx="256032" cy="384048"/>
          </a:xfrm>
          <a:prstGeom prst="chevron">
            <a:avLst/>
          </a:prstGeom>
          <a:solidFill>
            <a:srgbClr val="C53E37"/>
          </a:solidFill>
          <a:ln w="12700">
            <a:solidFill>
              <a:srgbClr val="C53E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5048" y="2697480"/>
            <a:ext cx="256032" cy="384048"/>
          </a:xfrm>
          <a:prstGeom prst="chevron">
            <a:avLst/>
          </a:prstGeom>
          <a:solidFill>
            <a:srgbClr val="C53E37"/>
          </a:solidFill>
          <a:ln w="12700">
            <a:solidFill>
              <a:srgbClr val="C53E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42519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172034"/>
          </a:solidFill>
          <a:ln w="12700">
            <a:solidFill>
              <a:srgbClr val="172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44256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Public proof 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87968" y="4754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A23B"/>
                </a:solidFill>
              </a:rPr>
              <a:t>Households served  •  verified points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5669280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EA"/>
                </a:solidFill>
              </a:rPr>
              <a:t>Phase 2 expansion uses KC's free bus network to extend reach beyond the corridor.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59893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829B"/>
                </a:solidFill>
              </a:rPr>
              <a:t>Borrowed operating pattern: Baltimore pickup points, Atlanta transit visibility, Philadelphia coordination layer.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should explain the whole company in one pass.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narrow: four hubs, five ZIPs, one 60-day pilot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Streetcar-facing hubs create the public story. Partner feeders extend access where the corridor alone cannot.</a:t>
            </a:r>
            <a:endParaRPr lang="en-US" sz="1300" dirty="0"/>
          </a:p>
        </p:txBody>
      </p:sp>
      <p:pic>
        <p:nvPicPr>
          <p:cNvPr id="6" name="Image 0" descr="/Users/danielgreen/Downloads/ai-prompt-kc-2026/site/assets/streetcart-hu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4160520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80060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8E8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0109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Pilot ZIPs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34009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E37"/>
                </a:solidFill>
              </a:rPr>
              <a:t>66101  •  64127  •  66105  •  64130  •  64128  •  64132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74920" y="148132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5F6FF"/>
          </a:solidFill>
          <a:ln w="12700">
            <a:solidFill>
              <a:srgbClr val="CAD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21224" y="1627632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River Market Hub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21224" y="193852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5C7AEA"/>
          </a:solidFill>
          <a:ln w="6350">
            <a:solidFill>
              <a:srgbClr val="5C7A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12664" y="197510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Streetcar spine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221224" y="223113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E37"/>
                </a:solidFill>
              </a:rPr>
              <a:t>Tue / Thu · 8:00 AM - 11:00 AM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21224" y="248716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29B"/>
                </a:solidFill>
              </a:rPr>
              <a:t>Harvesters + After the Harvest KC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221224" y="273405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Serves 64127, 64130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29600" y="148132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5F6FF"/>
          </a:solidFill>
          <a:ln w="12700">
            <a:solidFill>
              <a:srgbClr val="CAD6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75904" y="1627632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Union Station Hub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75904" y="193852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5C7AEA"/>
          </a:solidFill>
          <a:ln w="6350">
            <a:solidFill>
              <a:srgbClr val="5C7A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67344" y="197510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Streetcar spine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375904" y="223113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E37"/>
                </a:solidFill>
              </a:rPr>
              <a:t>Tue / Thu · 4:00 PM - 6:00 PM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375904" y="248716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29B"/>
                </a:solidFill>
              </a:rPr>
              <a:t>Bishop Sullivan Center + Harvesters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375904" y="273405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Serves 64130, 64132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74920" y="358444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4FAF6"/>
          </a:solidFill>
          <a:ln w="12700">
            <a:solidFill>
              <a:srgbClr val="C4E0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21224" y="3730752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Westport Hub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21224" y="404164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E7D64"/>
          </a:solidFill>
          <a:ln w="6350">
            <a:solidFill>
              <a:srgbClr val="2E7D6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12664" y="40782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Streetcar spine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221224" y="433425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E37"/>
                </a:solidFill>
              </a:rPr>
              <a:t>Wed / Fri · 11:00 AM - 2:00 PM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221224" y="459028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29B"/>
                </a:solidFill>
              </a:rPr>
              <a:t>Guadalupe Centers + KC Community Gardens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221224" y="483717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Serves 64127, 64128, 64132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0" y="3584448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4FAF6"/>
          </a:solidFill>
          <a:ln w="12700">
            <a:solidFill>
              <a:srgbClr val="C4E0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75904" y="3730752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</a:rPr>
              <a:t>Cross-Lines Connector Hub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375904" y="404164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E7D64"/>
          </a:solidFill>
          <a:ln w="6350">
            <a:solidFill>
              <a:srgbClr val="2E7D6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67344" y="40782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bridge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375904" y="433425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E37"/>
                </a:solidFill>
              </a:rPr>
              <a:t>Wed / Fri · 11:00 AM - 2:00 PM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375904" y="459028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29B"/>
                </a:solidFill>
              </a:rPr>
              <a:t>Cross-Lines + El Centro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375904" y="483717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Serves 66101, 66105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streetcar stop names can change. The logic is fixed: civic spine plus feeder reach.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$500K contract: use the first 60 days to prove renewal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brief says $500K revenue, $150K operating costs, and 60 days to prove it works. This budget spends like a pilot, not a capital project.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172034"/>
          </a:solidFill>
          <a:ln w="12700">
            <a:solidFill>
              <a:srgbClr val="1720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A23B"/>
                </a:solidFill>
              </a:rPr>
              <a:t>$150K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Direct 60-day pilot opex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" y="274320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staffing and partner hub support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handling, cold-chain support, and produce triage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Bilingual SMS and resident outreach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Volunteer operations and event execution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5010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C0D3"/>
                </a:solidFill>
              </a:rPr>
              <a:t>This is the spend that proves the pilot works.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1572768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4EE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1737360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$150K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33672" y="2121408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operations (60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33672" y="2395728"/>
            <a:ext cx="30083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of contract • Staff, food top-ups, cold-chain supplies, vans, insurance, gas cards, and contingency.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0" y="1572768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5F7FF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1737360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$120K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6992" y="2121408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build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36992" y="2395728"/>
            <a:ext cx="30083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24% of contract • Dispatch and gamification platform, kiosk integration, routing, dashboard, and QA.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3054096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0FAF5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3218688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33672" y="3602736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+ branding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33672" y="3877056"/>
            <a:ext cx="30083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of contract • Campaign creative, co-branding, launch events, PR, and bilingual outreach.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3054096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8E8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3218688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$80K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36992" y="3602736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Streetcar wrap + renewal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36992" y="3877056"/>
            <a:ext cx="30083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 of contract • Winning-team wrap, maintenance, and a seed runway into Season 2.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69080" y="4535424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9EFF7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4700016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$50K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233672" y="5084064"/>
            <a:ext cx="3008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33672" y="5358384"/>
            <a:ext cx="30083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of contract • Third-party evaluator, survey design, and the final report.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direct pilot opex callout is the number to say out loud when judges ask about feasibility.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city gets back in 60 days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StreetCart on completed access, not app vanity metrics.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5F6FF"/>
          </a:solidFill>
          <a:ln w="12700">
            <a:solidFill>
              <a:srgbClr val="CBD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733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3,000-5,000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205740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households served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3317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 reached across the six highest-priority ZIPs during the 60-day pilot.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FF4EE"/>
          </a:solidFill>
          <a:ln w="12700">
            <a:solidFill>
              <a:srgbClr val="E9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6733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5,000-7,500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39312" y="205740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deliveries completed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23317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boxes moved through hubs, routes, and selective delivery assists.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5F6FF"/>
          </a:solidFill>
          <a:ln w="12700">
            <a:solidFill>
              <a:srgbClr val="CBD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6733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150K-250K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73952" y="205740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Pounds distributed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73952" y="23317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donated and purchased food moved through partner-led operations.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0" y="1508760"/>
            <a:ext cx="2542032" cy="1481328"/>
          </a:xfrm>
          <a:prstGeom prst="roundRect">
            <a:avLst>
              <a:gd name="adj" fmla="val 4938"/>
            </a:avLst>
          </a:prstGeom>
          <a:solidFill>
            <a:srgbClr val="FFF4EE"/>
          </a:solidFill>
          <a:ln w="12700">
            <a:solidFill>
              <a:srgbClr val="E9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6733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&gt;70%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08592" y="205740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ZIP share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08592" y="23317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volume held in 64127, 64128, 64130, 64132, 66101, and 66105.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34290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5760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Renewal triggers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005072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3,000-5,000 households served with more than 70% of volume in the six worst ZIPs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loaded delivered-box cost held below $35 with a 3:1 to 5:1 donated-food leverage ratio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Volunteer retention above 40% for repeat drivers and route claimers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vote cleared in 66101 and 66105 inside 14 days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4290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172034"/>
          </a:solidFill>
          <a:ln w="12700">
            <a:solidFill>
              <a:srgbClr val="172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67588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this is more fundable than another store bet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40233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existing assets and partners instead of new capital build-out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visible city proof loop with public accountability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as a thin operating layer judges can imagine renewing quickly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 'renewal case' at least once. That is the city-buying lens.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D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D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Muse proof lives inside the pitch, not beside 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E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 structure leads. Sports energy makes people remember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01827"/>
          </a:solidFill>
          <a:ln w="12700">
            <a:solidFill>
              <a:srgbClr val="243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373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23B"/>
                </a:solidFill>
              </a:rPr>
              <a:t>Station scoreboard mock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7C5"/>
                </a:solidFill>
              </a:rPr>
              <a:t>WEEK 3 LEADERBOARD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542032"/>
            <a:ext cx="3154680" cy="493776"/>
          </a:xfrm>
          <a:prstGeom prst="roundRect">
            <a:avLst>
              <a:gd name="adj" fmla="val 11111"/>
            </a:avLst>
          </a:prstGeom>
          <a:solidFill>
            <a:srgbClr val="C53E37"/>
          </a:solidFill>
          <a:ln w="12700">
            <a:solidFill>
              <a:srgbClr val="C53E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791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Chiefs Kingdom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65176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3A23B"/>
                </a:solidFill>
              </a:rPr>
              <a:t>1248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3154680" cy="493776"/>
          </a:xfrm>
          <a:prstGeom prst="roundRect">
            <a:avLst>
              <a:gd name="adj" fmla="val 11111"/>
            </a:avLst>
          </a:prstGeom>
          <a:solidFill>
            <a:srgbClr val="1A263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33756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Royals Respond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331012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3A23B"/>
                </a:solidFill>
              </a:rPr>
              <a:t>1176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858768"/>
            <a:ext cx="3154680" cy="493776"/>
          </a:xfrm>
          <a:prstGeom prst="roundRect">
            <a:avLst>
              <a:gd name="adj" fmla="val 11111"/>
            </a:avLst>
          </a:prstGeom>
          <a:solidFill>
            <a:srgbClr val="1A263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995928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Sporting KC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396849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3A23B"/>
                </a:solidFill>
              </a:rPr>
              <a:t>1032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517136"/>
            <a:ext cx="3154680" cy="493776"/>
          </a:xfrm>
          <a:prstGeom prst="roundRect">
            <a:avLst>
              <a:gd name="adj" fmla="val 11111"/>
            </a:avLst>
          </a:prstGeom>
          <a:solidFill>
            <a:srgbClr val="1A263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654296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KC Current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462686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3A23B"/>
                </a:solidFill>
              </a:rPr>
              <a:t>984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146304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FFF8F0"/>
          </a:solidFill>
          <a:ln w="12700">
            <a:solidFill>
              <a:srgbClr val="E1D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7190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Winning wrap prize</a:t>
            </a:r>
            <a:endParaRPr lang="en-US" sz="1600" dirty="0"/>
          </a:p>
        </p:txBody>
      </p:sp>
      <p:pic>
        <p:nvPicPr>
          <p:cNvPr id="23" name="Image 0" descr="/Users/danielgreen/Downloads/ai-prompt-kc-2026/site/assets/streetcar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103120"/>
            <a:ext cx="2606040" cy="173736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166360" y="2542032"/>
            <a:ext cx="2103120" cy="685800"/>
          </a:xfrm>
          <a:prstGeom prst="rect">
            <a:avLst/>
          </a:prstGeom>
          <a:solidFill>
            <a:srgbClr val="C53E37">
              <a:alpha val="82000"/>
            </a:srgbClr>
          </a:solidFill>
          <a:ln w="25400">
            <a:solidFill>
              <a:srgbClr val="E3A2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49240" y="274320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CHIEFS KINGDOM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92040" y="4041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</a:rPr>
              <a:t>Renewal-phase reward that turns volunteer pride into a public civic signal.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046720" y="146304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01827"/>
          </a:solidFill>
          <a:ln w="12700">
            <a:solidFill>
              <a:srgbClr val="24324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93608" y="1719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23B"/>
                </a:solidFill>
              </a:rPr>
              <a:t>Resident-facing proof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21040" y="2240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 proxima recogida de StreetCart KC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321040" y="278892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DE8"/>
                </a:solidFill>
              </a:rPr>
              <a:t>Miercoles · 11:00 AM a 2:00 PM · Cross-Lines Connector Hub. Lleve una bolsa reutilizable. No se requiere identificacion. El Centro tendra apoyo en espanol en el sitio.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321040" y="41605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3A23B"/>
                </a:solidFill>
              </a:rPr>
              <a:t>Si no puede llegar, responda AYUDA para solicitar entrega prioritaria.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13232" y="62179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5C7"/>
                </a:solidFill>
              </a:rPr>
              <a:t>Every Muse artifact must still point back to households served.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judges can touch in under two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site is a thin proof: operator dashboard, resident instructions, and public leaderboard.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874520"/>
            <a:ext cx="2999232" cy="1993392"/>
          </a:xfrm>
          <a:prstGeom prst="roundRect">
            <a:avLst>
              <a:gd name="adj" fmla="val 2752"/>
            </a:avLst>
          </a:prstGeom>
          <a:solidFill>
            <a:srgbClr val="F4F7FF"/>
          </a:solidFill>
          <a:ln w="12700">
            <a:solidFill>
              <a:srgbClr val="CB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4160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Operator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4805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E37"/>
                </a:solidFill>
              </a:rPr>
              <a:t>priority ZIPs • next hub • KPI cards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47731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</a:rPr>
              <a:t>Shows the pilot schedule, partner assignment, ZIP priority ranking, and the one curveball-ready operating lever.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33272" y="20574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7AEA"/>
                </a:solidFill>
              </a:rPr>
              <a:t>KPI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66544" y="20574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7AEA"/>
                </a:solidFill>
              </a:rPr>
              <a:t>ZIP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53512" y="20574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7AEA"/>
                </a:solidFill>
              </a:rPr>
              <a:t>Hub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45059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66101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E37"/>
                </a:solidFill>
              </a:rPr>
              <a:t>Critical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34640" y="245059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River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11680" y="276148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64127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276148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E37"/>
                </a:solidFill>
              </a:rPr>
              <a:t>Critical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34640" y="276148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Union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11680" y="307238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66105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307238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E37"/>
                </a:solidFill>
              </a:rPr>
              <a:t>Critical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34640" y="307238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Westport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62272" y="160020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874520"/>
            <a:ext cx="2999232" cy="1993392"/>
          </a:xfrm>
          <a:prstGeom prst="roundRect">
            <a:avLst>
              <a:gd name="adj" fmla="val 2752"/>
            </a:avLst>
          </a:prstGeom>
          <a:solidFill>
            <a:srgbClr val="FFF8E8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4160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Resident instruction 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45152" y="44805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E37"/>
                </a:solidFill>
              </a:rPr>
              <a:t>English / Español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45152" y="47731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</a:rPr>
              <a:t>Shows one example household getting a clear pickup message with a fallback for selective delivery.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82312" y="20299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E37"/>
                </a:solidFill>
              </a:rPr>
              <a:t>StreetCart KC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82312" y="24231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Miércoles · 11:00 AM - 2:00 PM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82312" y="26974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Cross-Lines Connector Hub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82312" y="29718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D64"/>
                </a:solidFill>
              </a:rPr>
              <a:t>No ID needed • reply AYUDA for delivery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11312" y="160020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75904" y="1874520"/>
            <a:ext cx="2999232" cy="1993392"/>
          </a:xfrm>
          <a:prstGeom prst="roundRect">
            <a:avLst>
              <a:gd name="adj" fmla="val 2752"/>
            </a:avLst>
          </a:prstGeom>
          <a:solidFill>
            <a:srgbClr val="FCEFF7"/>
          </a:solidFill>
          <a:ln w="12700">
            <a:solidFill>
              <a:srgbClr val="E8C1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94192" y="4160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Public leaderboard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94192" y="44805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E37"/>
                </a:solidFill>
              </a:rPr>
              <a:t>verified points only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94192" y="47731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B"/>
                </a:solidFill>
              </a:rPr>
              <a:t>Shows the tournament without losing the core metric: verified completions in priority ZIPs.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31352" y="23317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Chiefs Kingdom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543032" y="2331720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E37"/>
                </a:solidFill>
              </a:rPr>
              <a:t>1248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31352" y="271576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Royals Respond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543032" y="2715768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E37"/>
                </a:solidFill>
              </a:rPr>
              <a:t>1176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531352" y="309981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Sporting KC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543032" y="309981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3E37"/>
                </a:solidFill>
              </a:rPr>
              <a:t>1032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site raises more questions than confidence, cut features until these three views are clean.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mastery is visible because the process is visible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claim AI use. Show how it changed the concept, the data choices, and the artifacts.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C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What AI actually did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challenge endpoints were reduced to one operating fact base: alerts, demographics, harvest routes, closures, pantries, transit, scoreboards, and budget.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Curveballs were absorbed into the same model instead of being bolted on as side memos or appendix slides.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Oracle, Muse, and Architect now all read from one data spine, which keeps the deck, dashboard, and static site consistent under deadline pressure.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E37"/>
                </a:solidFill>
              </a:rPr>
              <a:t>Worklog moments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10:47 AM — cut low-signal APIs and lock the core data inputs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10:51 AM — streetcar beats bus as the brief's right answer, with bus kept as phase-two reach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10:55 AM — start a live reasoning log to prove iteration instead of reconstructing it later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1649"/>
            </a:avLst>
          </a:prstGeom>
          <a:solidFill>
            <a:srgbClr val="172034"/>
          </a:solidFill>
          <a:ln w="12700">
            <a:solidFill>
              <a:srgbClr val="172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18470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Artifacts judges can inspect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02552" y="221284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deck and its source script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site showing the same pilot data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strategy memo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timestamped worklog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02552" y="4846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3A23B"/>
                </a:solidFill>
              </a:rPr>
              <a:t>AI mastery score target: show intentional direction, not accidental generation.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docs: streetcart-kc-spine.md, data-strategy.md, 2026-03-28-worklog.md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E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hard questions already have answers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one slide for direct objections so the curveball lands as proof of discipline, not improvisation.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FF6EE"/>
          </a:solidFill>
          <a:ln w="12700">
            <a:solidFill>
              <a:srgbClr val="E8C7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This is branding, not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829B"/>
                </a:solidFill>
              </a:rPr>
              <a:t>The package leads with households served, ZIP targeting, partner staffing, and verified completions before it shows the bracket.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36792" y="1645920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5F7FF"/>
          </a:solidFill>
          <a:ln w="12700">
            <a:solidFill>
              <a:srgbClr val="CB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The streetcar cannot carry food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17627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829B"/>
                </a:solidFill>
              </a:rPr>
              <a:t>Phase one never depends on cargo on trains. The streetcar is the city-facing spine while partners and feeder hubs handle fulfillment.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3639312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FF6EE"/>
          </a:solidFill>
          <a:ln w="12700">
            <a:solidFill>
              <a:srgbClr val="E8C7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221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Why not just use buses?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1696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829B"/>
                </a:solidFill>
              </a:rPr>
              <a:t>Buses expand reach in phase two, but the streetcar is the most visible Kansas City-specific organizing line for a 60-day proof.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36792" y="3639312"/>
            <a:ext cx="5166360" cy="1627632"/>
          </a:xfrm>
          <a:prstGeom prst="roundRect">
            <a:avLst>
              <a:gd name="adj" fmla="val 4494"/>
            </a:avLst>
          </a:prstGeom>
          <a:solidFill>
            <a:srgbClr val="F5F7FF"/>
          </a:solidFill>
          <a:ln w="12700">
            <a:solidFill>
              <a:srgbClr val="CBD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8221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Why is this better than pantry outreach today?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1696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829B"/>
                </a:solidFill>
              </a:rPr>
              <a:t>It gives the city one public operating layer for schedules, resident guidance, volunteer turnout, and proof instead of fragmented referrals.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603504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3E37"/>
                </a:solidFill>
              </a:rPr>
              <a:t>Slides 9-11 should feel like judge defense: evidence, objections, then the curveball.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3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rebuttals operational. Avoid defensive copy.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ED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StreetCart KC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182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D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Codex KC  •  Oracle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Curveball response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E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curveballs. Same operating spine.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143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DE8"/>
                </a:solidFill>
              </a:rPr>
              <a:t>StreetCart KC handles the vote requirement and the 48-hour produce surge without changing the streetcar-backed, partner-led model.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" y="160020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121B2D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23B"/>
                </a:solidFill>
              </a:rPr>
              <a:t>Voto y Verdura in 66101 + 66105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2157984"/>
            <a:ext cx="1367028" cy="256032"/>
          </a:xfrm>
          <a:prstGeom prst="roundRect">
            <a:avLst>
              <a:gd name="adj" fmla="val 28571"/>
            </a:avLst>
          </a:prstGeom>
          <a:solidFill>
            <a:srgbClr val="C53E37"/>
          </a:solidFill>
          <a:ln w="6350">
            <a:solidFill>
              <a:srgbClr val="C53E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94560"/>
            <a:ext cx="11841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66101 + 66105 • 14 days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5054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DE8"/>
                </a:solidFill>
              </a:rPr>
              <a:t>Spanish-first, trust-based outreach runs through El Centro Academy, Cross-Lines, tiendas, laundromats, and produce pop-ups instead of downtown civic channels.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31012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Trusted anchors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3529584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Centro Academy pickup line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Cross-Lines distribution windows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Minnesota Avenue bus stop pop-ups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46120" y="33101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Operating moves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3529584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1-3: collect support at trusted anchor sites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4-10: run produce giveaways with support forms in every bag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11-13: send bilingual two-person canvass teams into the densest blocks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960120" y="486460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AAB5C7"/>
                </a:solidFill>
              </a:rPr>
              <a:t>Spanish first • bilingual hotline • community canvassers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26280" y="4718304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5C7AEA"/>
          </a:solidFill>
          <a:ln w="12700">
            <a:solidFill>
              <a:srgbClr val="5C7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4855464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KCK Unidos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327648" y="1600200"/>
            <a:ext cx="5138928" cy="3977640"/>
          </a:xfrm>
          <a:prstGeom prst="roundRect">
            <a:avLst>
              <a:gd name="adj" fmla="val 1839"/>
            </a:avLst>
          </a:prstGeom>
          <a:solidFill>
            <a:srgbClr val="FFF6E7"/>
          </a:solidFill>
          <a:ln w="12700">
            <a:solidFill>
              <a:srgbClr val="EACE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8288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1,000 lbs in a 48-hour perishables window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65392" y="2157984"/>
            <a:ext cx="1129284" cy="256032"/>
          </a:xfrm>
          <a:prstGeom prst="roundRect">
            <a:avLst>
              <a:gd name="adj" fmla="val 28571"/>
            </a:avLst>
          </a:prstGeom>
          <a:solidFill>
            <a:srgbClr val="2E7D64"/>
          </a:solidFill>
          <a:ln w="6350">
            <a:solidFill>
              <a:srgbClr val="2E7D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194560"/>
            <a:ext cx="9464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1000 lbs • 48 hours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65392" y="2505456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B1020"/>
                </a:solidFill>
              </a:rPr>
              <a:t>Cold storage, not demand, is the binding constraint, so produce is routed to four partner sites that can hold or move perishables immediately.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583680" y="3383280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E37"/>
                </a:solidFill>
              </a:rPr>
              <a:t>Route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64040" y="3383280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E37"/>
                </a:solidFill>
              </a:rPr>
              <a:t>Lbs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338328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E37"/>
                </a:solidFill>
              </a:rPr>
              <a:t>Cold chain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65392" y="3639312"/>
            <a:ext cx="2697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020"/>
                </a:solidFill>
              </a:rPr>
              <a:t>Cross-Lines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9491472" y="3639312"/>
            <a:ext cx="2926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0B1020"/>
                </a:solidFill>
              </a:rPr>
              <a:t>400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10012680" y="363931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73829B"/>
                </a:solidFill>
              </a:rPr>
              <a:t>Walk-in cooler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6565392" y="4023360"/>
            <a:ext cx="2697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020"/>
                </a:solidFill>
              </a:rPr>
              <a:t>Guadalupe Centers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9491472" y="4023360"/>
            <a:ext cx="2926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0B1020"/>
                </a:solidFill>
              </a:rPr>
              <a:t>200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10012680" y="4023360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73829B"/>
                </a:solidFill>
              </a:rPr>
              <a:t>Small fridge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6565392" y="4407408"/>
            <a:ext cx="2697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020"/>
                </a:solidFill>
              </a:rPr>
              <a:t>Della Lamb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9491472" y="4407408"/>
            <a:ext cx="2926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0B1020"/>
                </a:solidFill>
              </a:rPr>
              <a:t>150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10012680" y="4407408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73829B"/>
                </a:solidFill>
              </a:rPr>
              <a:t>Small fridge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6565392" y="4791456"/>
            <a:ext cx="2697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0B1020"/>
                </a:solidFill>
              </a:rPr>
              <a:t>Harvesters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9491472" y="4791456"/>
            <a:ext cx="2926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0B1020"/>
                </a:solidFill>
              </a:rPr>
              <a:t>250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10012680" y="4791456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73829B"/>
                </a:solidFill>
              </a:rPr>
              <a:t>Industrial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6565392" y="523036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E37"/>
                </a:solidFill>
              </a:rPr>
              <a:t>Dispatch flow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65392" y="54498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020"/>
                </a:solidFill>
              </a:rPr>
              <a:t>Day 0: pick up, weigh, bag, and drop to cold-chain partners  •  Day 1: run same-day pop-up and partner distributions where cooler space exists  •  Day 2: clear the remaining inventory through scheduled partner routes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3232" y="5797296"/>
            <a:ext cx="10753344" cy="603504"/>
          </a:xfrm>
          <a:prstGeom prst="roundRect">
            <a:avLst>
              <a:gd name="adj" fmla="val 12121"/>
            </a:avLst>
          </a:prstGeom>
          <a:solidFill>
            <a:srgbClr val="182334"/>
          </a:solidFill>
          <a:ln w="12700">
            <a:solidFill>
              <a:srgbClr val="2D40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" y="5971032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A decentralized partner network responds inside hours because the model relies on staging hubs, trusted agencies, and volunteers, not a single expensive building.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315200" y="5907024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C53E37"/>
          </a:solidFill>
          <a:ln w="6350">
            <a:solidFill>
              <a:srgbClr val="C53E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59436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days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412480" y="5907024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E7D64"/>
          </a:solidFill>
          <a:ln w="6350">
            <a:solidFill>
              <a:srgbClr val="2E7D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59436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 hours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555480" y="5907024"/>
            <a:ext cx="1485900" cy="256032"/>
          </a:xfrm>
          <a:prstGeom prst="roundRect">
            <a:avLst>
              <a:gd name="adj" fmla="val 28571"/>
            </a:avLst>
          </a:prstGeom>
          <a:solidFill>
            <a:srgbClr val="5C7AEA"/>
          </a:solidFill>
          <a:ln w="6350">
            <a:solidFill>
              <a:srgbClr val="5C7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46920" y="5943600"/>
            <a:ext cx="1303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$8K internal reallocation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716768" y="5907024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3A23B"/>
          </a:solidFill>
          <a:ln w="6350">
            <a:solidFill>
              <a:srgbClr val="E3A2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08208" y="59436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~$190 emergency move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CE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curveball on one slide. Use the detailed playbook for speaker-note overflow.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 Codex KC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StreetCart KC</dc:title>
  <dc:subject>StreetCart KC Oracle submission</dc:subject>
  <dc:creator>Codex</dc:creator>
  <cp:lastModifiedBy>Codex</cp:lastModifiedBy>
  <cp:revision>1</cp:revision>
  <dcterms:created xsi:type="dcterms:W3CDTF">2026-03-28T19:04:04Z</dcterms:created>
  <dcterms:modified xsi:type="dcterms:W3CDTF">2026-03-28T19:04:04Z</dcterms:modified>
</cp:coreProperties>
</file>